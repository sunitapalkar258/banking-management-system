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113" d="100"/>
          <a:sy n="113" d="100"/>
        </p:scale>
        <p:origin x="474" y="-2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A504CCB-D66E-4C5C-8F99-891289687BD0}" type="datetimeFigureOut">
              <a:rPr lang="en-IN" smtClean="0"/>
              <a:t>05-10-2026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5ED22A1-DC9C-4A03-91A7-F41213BED2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075835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ED22A1-DC9C-4A03-91A7-F41213BED27E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3640274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ED22A1-DC9C-4A03-91A7-F41213BED27E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0570834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ED22A1-DC9C-4A03-91A7-F41213BED27E}" type="slidenum">
              <a:rPr lang="en-IN" smtClean="0"/>
              <a:t>23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9982119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ED22A1-DC9C-4A03-91A7-F41213BED27E}" type="slidenum">
              <a:rPr lang="en-IN" smtClean="0"/>
              <a:t>24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106965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9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1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9189720" y="0"/>
            <a:ext cx="3001975" cy="6858000"/>
          </a:xfrm>
          <a:prstGeom prst="rect">
            <a:avLst/>
          </a:prstGeom>
          <a:solidFill>
            <a:srgbClr val="2660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1234440"/>
            <a:ext cx="78638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9283A"/>
                </a:solidFill>
                <a:latin typeface="Aptos Display"/>
              </a:defRPr>
            </a:pPr>
            <a:r>
              <a:t>BANKING MANAGEMENT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2267712"/>
            <a:ext cx="71323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>
                <a:solidFill>
                  <a:srgbClr val="266091"/>
                </a:solidFill>
                <a:latin typeface="Aptos"/>
              </a:defRPr>
            </a:pPr>
            <a:r>
              <a:t>SQL Database Design, Queries &amp; Analysis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13232" y="3246120"/>
            <a:ext cx="7635240" cy="1417320"/>
          </a:xfrm>
          <a:prstGeom prst="roundRect">
            <a:avLst/>
          </a:prstGeom>
          <a:solidFill>
            <a:srgbClr val="F4F7FA"/>
          </a:solidFill>
          <a:ln>
            <a:solidFill>
              <a:srgbClr val="CAD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13232" y="3246120"/>
            <a:ext cx="50292" cy="1417320"/>
          </a:xfrm>
          <a:prstGeom prst="rect">
            <a:avLst/>
          </a:prstGeom>
          <a:solidFill>
            <a:srgbClr val="29AA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3355848"/>
            <a:ext cx="73152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50" b="1">
                <a:solidFill>
                  <a:srgbClr val="19283A"/>
                </a:solidFill>
                <a:latin typeface="Aptos Display"/>
              </a:defRPr>
            </a:pPr>
            <a:r>
              <a:t>Project focus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730752"/>
            <a:ext cx="7315200" cy="8503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566576"/>
                </a:solidFill>
                <a:latin typeface="Aptos"/>
              </a:defRPr>
            </a:pPr>
            <a:r>
              <a:t>A relational banking database covering customers, accounts, transactions and loans, followed by practical SQL analysis.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9AA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30352" y="274320"/>
            <a:ext cx="96926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9283A"/>
                </a:solidFill>
                <a:latin typeface="Aptos Display"/>
              </a:defRPr>
            </a:pPr>
            <a:r>
              <a:t>1. Project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86384"/>
            <a:ext cx="9601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566576"/>
                </a:solidFill>
                <a:latin typeface="Aptos"/>
              </a:defRPr>
            </a:pPr>
            <a:r>
              <a:t>Purpose and scope of the database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66960" y="347472"/>
            <a:ext cx="1645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29AABE"/>
                </a:solidFill>
                <a:latin typeface="Aptos"/>
              </a:defRPr>
            </a:pPr>
            <a:r>
              <a:t>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325880"/>
            <a:ext cx="65836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9283A"/>
                </a:solidFill>
                <a:latin typeface="Aptos"/>
              </a:defRPr>
            </a:pPr>
            <a:r>
              <a:t>• Design a relational database for basic banking operations.</a:t>
            </a:r>
          </a:p>
          <a:p>
            <a:pPr>
              <a:spcAft>
                <a:spcPts val="800"/>
              </a:spcAft>
              <a:defRPr sz="1600">
                <a:solidFill>
                  <a:srgbClr val="19283A"/>
                </a:solidFill>
                <a:latin typeface="Aptos"/>
              </a:defRPr>
            </a:pPr>
            <a:r>
              <a:t>• Store customer, account, transaction and loan information.</a:t>
            </a:r>
          </a:p>
          <a:p>
            <a:pPr>
              <a:spcAft>
                <a:spcPts val="800"/>
              </a:spcAft>
              <a:defRPr sz="1600">
                <a:solidFill>
                  <a:srgbClr val="19283A"/>
                </a:solidFill>
                <a:latin typeface="Aptos"/>
              </a:defRPr>
            </a:pPr>
            <a:r>
              <a:t>• Connect related records using primary keys and foreign keys.</a:t>
            </a:r>
          </a:p>
          <a:p>
            <a:pPr>
              <a:spcAft>
                <a:spcPts val="800"/>
              </a:spcAft>
              <a:defRPr sz="1600">
                <a:solidFill>
                  <a:srgbClr val="19283A"/>
                </a:solidFill>
                <a:latin typeface="Aptos"/>
              </a:defRPr>
            </a:pPr>
            <a:r>
              <a:t>• Use SQL to answer practical banking-analysis questions.</a:t>
            </a:r>
          </a:p>
          <a:p>
            <a:pPr>
              <a:spcAft>
                <a:spcPts val="800"/>
              </a:spcAft>
              <a:defRPr sz="1600">
                <a:solidFill>
                  <a:srgbClr val="19283A"/>
                </a:solidFill>
                <a:latin typeface="Aptos"/>
              </a:defRPr>
            </a:pPr>
            <a:r>
              <a:t>• Progress from simple SELECT/JOIN queries to analytical window functions.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635240" y="1325880"/>
            <a:ext cx="3794760" cy="1143000"/>
          </a:xfrm>
          <a:prstGeom prst="roundRect">
            <a:avLst/>
          </a:prstGeom>
          <a:solidFill>
            <a:srgbClr val="F4F7FA"/>
          </a:solidFill>
          <a:ln>
            <a:solidFill>
              <a:srgbClr val="CAD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635240" y="1325880"/>
            <a:ext cx="50292" cy="1143000"/>
          </a:xfrm>
          <a:prstGeom prst="rect">
            <a:avLst/>
          </a:prstGeom>
          <a:solidFill>
            <a:srgbClr val="29AA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836408" y="1435607"/>
            <a:ext cx="34747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50" b="1">
                <a:solidFill>
                  <a:srgbClr val="19283A"/>
                </a:solidFill>
                <a:latin typeface="Aptos Display"/>
              </a:defRPr>
            </a:pPr>
            <a:r>
              <a:t>Database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36408" y="1810512"/>
            <a:ext cx="3474720" cy="5760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566576"/>
                </a:solidFill>
                <a:latin typeface="Aptos"/>
              </a:defRPr>
            </a:pPr>
            <a:r>
              <a:t>Bank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635240" y="2697480"/>
            <a:ext cx="3794760" cy="1143000"/>
          </a:xfrm>
          <a:prstGeom prst="roundRect">
            <a:avLst/>
          </a:prstGeom>
          <a:solidFill>
            <a:srgbClr val="F4F7FA"/>
          </a:solidFill>
          <a:ln>
            <a:solidFill>
              <a:srgbClr val="CAD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635240" y="2697480"/>
            <a:ext cx="50292" cy="1143000"/>
          </a:xfrm>
          <a:prstGeom prst="rect">
            <a:avLst/>
          </a:prstGeom>
          <a:solidFill>
            <a:srgbClr val="30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836408" y="2807208"/>
            <a:ext cx="34747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50" b="1">
                <a:solidFill>
                  <a:srgbClr val="19283A"/>
                </a:solidFill>
                <a:latin typeface="Aptos Display"/>
              </a:defRPr>
            </a:pPr>
            <a:r>
              <a:t>Core tables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36408" y="3182112"/>
            <a:ext cx="3474720" cy="5760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566576"/>
                </a:solidFill>
                <a:latin typeface="Aptos"/>
              </a:defRPr>
            </a:pPr>
            <a:r>
              <a:t>Customers • Accounts • Transactions • Loans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635240" y="4069080"/>
            <a:ext cx="3794760" cy="1143000"/>
          </a:xfrm>
          <a:prstGeom prst="roundRect">
            <a:avLst/>
          </a:prstGeom>
          <a:solidFill>
            <a:srgbClr val="F4F7FA"/>
          </a:solidFill>
          <a:ln>
            <a:solidFill>
              <a:srgbClr val="CAD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7635240" y="4069080"/>
            <a:ext cx="50292" cy="1143000"/>
          </a:xfrm>
          <a:prstGeom prst="rect">
            <a:avLst/>
          </a:prstGeom>
          <a:solidFill>
            <a:srgbClr val="E28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836408" y="4178808"/>
            <a:ext cx="34747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50" b="1">
                <a:solidFill>
                  <a:srgbClr val="19283A"/>
                </a:solidFill>
                <a:latin typeface="Aptos Display"/>
              </a:defRPr>
            </a:pPr>
            <a:r>
              <a:t>Analysis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36408" y="4553712"/>
            <a:ext cx="3474720" cy="5760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566576"/>
                </a:solidFill>
                <a:latin typeface="Aptos"/>
              </a:defRPr>
            </a:pPr>
            <a:r>
              <a:t>Joins • Aggregation • Subqueries • Window functions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9AA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30352" y="274320"/>
            <a:ext cx="96926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9283A"/>
                </a:solidFill>
                <a:latin typeface="Aptos Display"/>
              </a:defRPr>
            </a:pPr>
            <a:r>
              <a:t>2. Database Schema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86384"/>
            <a:ext cx="9601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566576"/>
                </a:solidFill>
                <a:latin typeface="Aptos"/>
              </a:defRPr>
            </a:pPr>
            <a:r>
              <a:t>How the four main entities are connected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66960" y="347472"/>
            <a:ext cx="1645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29AABE"/>
                </a:solidFill>
                <a:latin typeface="Aptos"/>
              </a:defRPr>
            </a:pPr>
            <a:r>
              <a:t>DATABASE DESIGN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234440"/>
            <a:ext cx="6812280" cy="4892040"/>
          </a:xfrm>
          <a:prstGeom prst="roundRect">
            <a:avLst/>
          </a:prstGeom>
          <a:solidFill>
            <a:srgbClr val="FFFFFF"/>
          </a:solidFill>
          <a:ln>
            <a:solidFill>
              <a:srgbClr val="CAD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100252" y="1288627"/>
            <a:ext cx="1939826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566576"/>
                </a:solidFill>
                <a:latin typeface="Aptos"/>
              </a:defRPr>
            </a:pPr>
            <a:r>
              <a:rPr sz="1200" dirty="0"/>
              <a:t>RELATIONSHIP DIAGRAM</a:t>
            </a:r>
          </a:p>
        </p:txBody>
      </p:sp>
      <p:pic>
        <p:nvPicPr>
          <p:cNvPr id="8" name="Picture 7" descr="Schema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044" y="1545336"/>
            <a:ext cx="6324911" cy="4498848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635240" y="1325880"/>
            <a:ext cx="3794760" cy="1143000"/>
          </a:xfrm>
          <a:prstGeom prst="roundRect">
            <a:avLst/>
          </a:prstGeom>
          <a:solidFill>
            <a:srgbClr val="F4F7FA"/>
          </a:solidFill>
          <a:ln>
            <a:solidFill>
              <a:srgbClr val="CAD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635240" y="1325880"/>
            <a:ext cx="50292" cy="1143000"/>
          </a:xfrm>
          <a:prstGeom prst="rect">
            <a:avLst/>
          </a:prstGeom>
          <a:solidFill>
            <a:srgbClr val="29AA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836408" y="1435607"/>
            <a:ext cx="34747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50" b="1">
                <a:solidFill>
                  <a:srgbClr val="19283A"/>
                </a:solidFill>
                <a:latin typeface="Aptos Display"/>
              </a:defRPr>
            </a:pPr>
            <a:r>
              <a:t>Customers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36408" y="1810512"/>
            <a:ext cx="3474720" cy="5760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566576"/>
                </a:solidFill>
                <a:latin typeface="Aptos"/>
              </a:defRPr>
            </a:pPr>
            <a:r>
              <a:t>Customer_ID uniquely identifies each customer.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35240" y="2697480"/>
            <a:ext cx="3794760" cy="1143000"/>
          </a:xfrm>
          <a:prstGeom prst="roundRect">
            <a:avLst/>
          </a:prstGeom>
          <a:solidFill>
            <a:srgbClr val="F4F7FA"/>
          </a:solidFill>
          <a:ln>
            <a:solidFill>
              <a:srgbClr val="CAD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635240" y="2697480"/>
            <a:ext cx="50292" cy="1143000"/>
          </a:xfrm>
          <a:prstGeom prst="rect">
            <a:avLst/>
          </a:prstGeom>
          <a:solidFill>
            <a:srgbClr val="30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836408" y="2807208"/>
            <a:ext cx="34747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50" b="1">
                <a:solidFill>
                  <a:srgbClr val="19283A"/>
                </a:solidFill>
                <a:latin typeface="Aptos Display"/>
              </a:defRPr>
            </a:pPr>
            <a:r>
              <a:t>Accounts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36408" y="3182112"/>
            <a:ext cx="3474720" cy="5760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566576"/>
                </a:solidFill>
                <a:latin typeface="Aptos"/>
              </a:defRPr>
            </a:pPr>
            <a:r>
              <a:t>Customer_ID connects each account to its owner.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35240" y="4069080"/>
            <a:ext cx="3794760" cy="1143000"/>
          </a:xfrm>
          <a:prstGeom prst="roundRect">
            <a:avLst/>
          </a:prstGeom>
          <a:solidFill>
            <a:srgbClr val="F4F7FA"/>
          </a:solidFill>
          <a:ln>
            <a:solidFill>
              <a:srgbClr val="CAD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635240" y="4069080"/>
            <a:ext cx="50292" cy="1143000"/>
          </a:xfrm>
          <a:prstGeom prst="rect">
            <a:avLst/>
          </a:prstGeom>
          <a:solidFill>
            <a:srgbClr val="E28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836408" y="4178808"/>
            <a:ext cx="34747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50" b="1">
                <a:solidFill>
                  <a:srgbClr val="19283A"/>
                </a:solidFill>
                <a:latin typeface="Aptos Display"/>
              </a:defRPr>
            </a:pPr>
            <a:r>
              <a:t>Transactions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36408" y="4553712"/>
            <a:ext cx="3474720" cy="5760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566576"/>
                </a:solidFill>
                <a:latin typeface="Aptos"/>
              </a:defRPr>
            </a:pPr>
            <a:r>
              <a:t>Account_ID connects every transaction to an account.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635240" y="5440680"/>
            <a:ext cx="3794760" cy="685800"/>
          </a:xfrm>
          <a:prstGeom prst="roundRect">
            <a:avLst/>
          </a:prstGeom>
          <a:solidFill>
            <a:srgbClr val="F4F7FA"/>
          </a:solidFill>
          <a:ln>
            <a:solidFill>
              <a:srgbClr val="CAD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7635240" y="5440680"/>
            <a:ext cx="50292" cy="685800"/>
          </a:xfrm>
          <a:prstGeom prst="rect">
            <a:avLst/>
          </a:prstGeom>
          <a:solidFill>
            <a:srgbClr val="29AA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836408" y="5550408"/>
            <a:ext cx="34747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50" b="1">
                <a:solidFill>
                  <a:srgbClr val="19283A"/>
                </a:solidFill>
                <a:latin typeface="Aptos Display"/>
              </a:defRPr>
            </a:pPr>
            <a:r>
              <a:t>Loans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36408" y="5925312"/>
            <a:ext cx="3474720" cy="1188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566576"/>
                </a:solidFill>
                <a:latin typeface="Aptos"/>
              </a:defRPr>
            </a:pPr>
            <a:r>
              <a:t>Customer_ID connects loans to borrowers.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9AA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30352" y="274320"/>
            <a:ext cx="96926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9283A"/>
                </a:solidFill>
                <a:latin typeface="Aptos Display"/>
              </a:defRPr>
            </a:pPr>
            <a:r>
              <a:t>3. Database &amp; Tables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86384"/>
            <a:ext cx="9601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566576"/>
                </a:solidFill>
                <a:latin typeface="Aptos"/>
              </a:defRPr>
            </a:pPr>
            <a:r>
              <a:t>Creation sequence used in the submitted SQL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66960" y="347472"/>
            <a:ext cx="1645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29AABE"/>
                </a:solidFill>
                <a:latin typeface="Aptos"/>
              </a:defRPr>
            </a:pPr>
            <a:r>
              <a:t>SETUP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143000"/>
            <a:ext cx="10744200" cy="749808"/>
          </a:xfrm>
          <a:prstGeom prst="roundRect">
            <a:avLst/>
          </a:prstGeom>
          <a:solidFill>
            <a:srgbClr val="F4F7FA"/>
          </a:solidFill>
          <a:ln>
            <a:solidFill>
              <a:srgbClr val="CAD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85800" y="1143000"/>
            <a:ext cx="50292" cy="749808"/>
          </a:xfrm>
          <a:prstGeom prst="rect">
            <a:avLst/>
          </a:prstGeom>
          <a:solidFill>
            <a:srgbClr val="29AA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86968" y="1252728"/>
            <a:ext cx="104241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50" b="1">
                <a:solidFill>
                  <a:srgbClr val="19283A"/>
                </a:solidFill>
                <a:latin typeface="Aptos Display"/>
              </a:defRPr>
            </a:pPr>
            <a:r>
              <a:t>Step 1 — Create database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1627632"/>
            <a:ext cx="10424160" cy="18287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566576"/>
                </a:solidFill>
                <a:latin typeface="Aptos"/>
              </a:defRPr>
            </a:pPr>
            <a:r>
              <a:t>CREATE DATABASE Bank; then USE Bank;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103120"/>
            <a:ext cx="10744200" cy="749808"/>
          </a:xfrm>
          <a:prstGeom prst="roundRect">
            <a:avLst/>
          </a:prstGeom>
          <a:solidFill>
            <a:srgbClr val="F4F7FA"/>
          </a:solidFill>
          <a:ln>
            <a:solidFill>
              <a:srgbClr val="CAD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85800" y="2103120"/>
            <a:ext cx="50292" cy="749808"/>
          </a:xfrm>
          <a:prstGeom prst="rect">
            <a:avLst/>
          </a:prstGeom>
          <a:solidFill>
            <a:srgbClr val="30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86968" y="2212848"/>
            <a:ext cx="104241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50" b="1">
                <a:solidFill>
                  <a:srgbClr val="19283A"/>
                </a:solidFill>
                <a:latin typeface="Aptos Display"/>
              </a:defRPr>
            </a:pPr>
            <a:r>
              <a:t>Step 2 — Customers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6968" y="2587752"/>
            <a:ext cx="10424160" cy="18287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566576"/>
                </a:solidFill>
                <a:latin typeface="Aptos"/>
              </a:defRPr>
            </a:pPr>
            <a:r>
              <a:t>10 customer records with identity, phone, city and account type.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063240"/>
            <a:ext cx="10744200" cy="749808"/>
          </a:xfrm>
          <a:prstGeom prst="roundRect">
            <a:avLst/>
          </a:prstGeom>
          <a:solidFill>
            <a:srgbClr val="F4F7FA"/>
          </a:solidFill>
          <a:ln>
            <a:solidFill>
              <a:srgbClr val="CAD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85800" y="3063240"/>
            <a:ext cx="50292" cy="749808"/>
          </a:xfrm>
          <a:prstGeom prst="rect">
            <a:avLst/>
          </a:prstGeom>
          <a:solidFill>
            <a:srgbClr val="E28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86968" y="3172968"/>
            <a:ext cx="104241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50" b="1">
                <a:solidFill>
                  <a:srgbClr val="19283A"/>
                </a:solidFill>
                <a:latin typeface="Aptos Display"/>
              </a:defRPr>
            </a:pPr>
            <a:r>
              <a:t>Step 3 — Accounts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6968" y="3547872"/>
            <a:ext cx="10424160" cy="18287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566576"/>
                </a:solidFill>
                <a:latin typeface="Aptos"/>
              </a:defRPr>
            </a:pPr>
            <a:r>
              <a:t>10 accounts with balance and opening date.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4023360"/>
            <a:ext cx="10744200" cy="749808"/>
          </a:xfrm>
          <a:prstGeom prst="roundRect">
            <a:avLst/>
          </a:prstGeom>
          <a:solidFill>
            <a:srgbClr val="F4F7FA"/>
          </a:solidFill>
          <a:ln>
            <a:solidFill>
              <a:srgbClr val="CAD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85800" y="4023360"/>
            <a:ext cx="50292" cy="749808"/>
          </a:xfrm>
          <a:prstGeom prst="rect">
            <a:avLst/>
          </a:prstGeom>
          <a:solidFill>
            <a:srgbClr val="29AA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86968" y="4133088"/>
            <a:ext cx="104241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50" b="1">
                <a:solidFill>
                  <a:srgbClr val="19283A"/>
                </a:solidFill>
                <a:latin typeface="Aptos Display"/>
              </a:defRPr>
            </a:pPr>
            <a:r>
              <a:t>Step 4 — Transactions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6968" y="4507992"/>
            <a:ext cx="10424160" cy="18287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566576"/>
                </a:solidFill>
                <a:latin typeface="Aptos"/>
              </a:defRPr>
            </a:pPr>
            <a:r>
              <a:t>15 transaction records linked to accounts.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4983480"/>
            <a:ext cx="10744200" cy="749808"/>
          </a:xfrm>
          <a:prstGeom prst="roundRect">
            <a:avLst/>
          </a:prstGeom>
          <a:solidFill>
            <a:srgbClr val="F4F7FA"/>
          </a:solidFill>
          <a:ln>
            <a:solidFill>
              <a:srgbClr val="CAD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85800" y="4983480"/>
            <a:ext cx="50292" cy="749808"/>
          </a:xfrm>
          <a:prstGeom prst="rect">
            <a:avLst/>
          </a:prstGeom>
          <a:solidFill>
            <a:srgbClr val="30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86968" y="5093208"/>
            <a:ext cx="104241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50" b="1">
                <a:solidFill>
                  <a:srgbClr val="19283A"/>
                </a:solidFill>
                <a:latin typeface="Aptos Display"/>
              </a:defRPr>
            </a:pPr>
            <a:r>
              <a:t>Step 5 — Loans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6968" y="5468112"/>
            <a:ext cx="10424160" cy="18287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566576"/>
                </a:solidFill>
                <a:latin typeface="Aptos"/>
              </a:defRPr>
            </a:pPr>
            <a:r>
              <a:t>8 loan records linked to customers.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9AA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30352" y="274320"/>
            <a:ext cx="96926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9283A"/>
                </a:solidFill>
                <a:latin typeface="Aptos Display"/>
              </a:defRPr>
            </a:pPr>
            <a:r>
              <a:t>4. Initial Data — Customers &amp; Accounts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86384"/>
            <a:ext cx="9601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566576"/>
                </a:solidFill>
                <a:latin typeface="Aptos"/>
              </a:defRPr>
            </a:pPr>
            <a:r>
              <a:t>Base records used by subsequent queries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66960" y="347472"/>
            <a:ext cx="1645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29AABE"/>
                </a:solidFill>
                <a:latin typeface="Aptos"/>
              </a:defRPr>
            </a:pPr>
            <a:r>
              <a:t>DATA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234440"/>
            <a:ext cx="544068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CAD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561631" y="1389927"/>
            <a:ext cx="1543308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566576"/>
                </a:solidFill>
                <a:latin typeface="Aptos"/>
              </a:defRPr>
            </a:pPr>
            <a:r>
              <a:rPr sz="1200" dirty="0"/>
              <a:t>CUSTOMERS TABLE</a:t>
            </a:r>
          </a:p>
        </p:txBody>
      </p:sp>
      <p:pic>
        <p:nvPicPr>
          <p:cNvPr id="8" name="Picture 7" descr="2_outpute_customer_ta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376" y="2338943"/>
            <a:ext cx="5184648" cy="2500152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144768" y="1234440"/>
            <a:ext cx="544068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CAD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175162" y="1388671"/>
            <a:ext cx="1455207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566576"/>
                </a:solidFill>
                <a:latin typeface="Aptos"/>
              </a:defRPr>
            </a:pPr>
            <a:r>
              <a:rPr sz="1200" dirty="0"/>
              <a:t>ACCOUNTS TABLE</a:t>
            </a:r>
          </a:p>
        </p:txBody>
      </p:sp>
      <p:pic>
        <p:nvPicPr>
          <p:cNvPr id="11" name="Picture 10" descr="4_outpute_account_tab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2783" y="1868731"/>
            <a:ext cx="5184648" cy="3440576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914400" y="5833872"/>
            <a:ext cx="10332720" cy="438912"/>
          </a:xfrm>
          <a:prstGeom prst="roundRect">
            <a:avLst/>
          </a:prstGeom>
          <a:solidFill>
            <a:srgbClr val="F4F7FA"/>
          </a:solidFill>
          <a:ln>
            <a:solidFill>
              <a:srgbClr val="CAD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914400" y="5833872"/>
            <a:ext cx="50292" cy="438912"/>
          </a:xfrm>
          <a:prstGeom prst="rect">
            <a:avLst/>
          </a:prstGeom>
          <a:solidFill>
            <a:srgbClr val="30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115568" y="5943600"/>
            <a:ext cx="100126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50" b="1">
                <a:solidFill>
                  <a:srgbClr val="19283A"/>
                </a:solidFill>
                <a:latin typeface="Aptos Display"/>
              </a:defRPr>
            </a:pPr>
            <a:r>
              <a:t>Data summary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5568" y="6318504"/>
            <a:ext cx="10012680" cy="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566576"/>
                </a:solidFill>
                <a:latin typeface="Aptos"/>
              </a:defRPr>
            </a:pPr>
            <a:r>
              <a:t>10 customers • 10 accounts • total account balance = ₹9,30,000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9AA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30352" y="274320"/>
            <a:ext cx="96926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9283A"/>
                </a:solidFill>
                <a:latin typeface="Aptos Display"/>
              </a:defRPr>
            </a:pPr>
            <a:r>
              <a:t>5. Initial Data — Transactions &amp; Loans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86384"/>
            <a:ext cx="9601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566576"/>
                </a:solidFill>
                <a:latin typeface="Aptos"/>
              </a:defRPr>
            </a:pPr>
            <a:r>
              <a:t>Operational records linked to the core entities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66960" y="347472"/>
            <a:ext cx="1645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29AABE"/>
                </a:solidFill>
                <a:latin typeface="Aptos"/>
              </a:defRPr>
            </a:pPr>
            <a:r>
              <a:t>DATA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234440"/>
            <a:ext cx="640080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CAD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940981" y="1248156"/>
            <a:ext cx="1757789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566576"/>
                </a:solidFill>
                <a:latin typeface="Aptos"/>
              </a:defRPr>
            </a:pPr>
            <a:r>
              <a:rPr sz="1200" dirty="0"/>
              <a:t>TRANSACTIONS TABLE</a:t>
            </a:r>
          </a:p>
        </p:txBody>
      </p:sp>
      <p:pic>
        <p:nvPicPr>
          <p:cNvPr id="8" name="Picture 7" descr="6_outpute_transaction_ta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285" y="1545336"/>
            <a:ext cx="6052949" cy="4087368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205472" y="1234440"/>
            <a:ext cx="434340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CAD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875775" y="1386655"/>
            <a:ext cx="1129220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566576"/>
                </a:solidFill>
                <a:latin typeface="Aptos"/>
              </a:defRPr>
            </a:pPr>
            <a:r>
              <a:rPr sz="1200" dirty="0"/>
              <a:t>LOANS TABLE</a:t>
            </a:r>
          </a:p>
        </p:txBody>
      </p:sp>
      <p:pic>
        <p:nvPicPr>
          <p:cNvPr id="11" name="Picture 10" descr="8_outpute_loan_tab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33488" y="2552538"/>
            <a:ext cx="4087368" cy="2072963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868680" y="5833872"/>
            <a:ext cx="10424160" cy="438912"/>
          </a:xfrm>
          <a:prstGeom prst="roundRect">
            <a:avLst/>
          </a:prstGeom>
          <a:solidFill>
            <a:srgbClr val="F4F7FA"/>
          </a:solidFill>
          <a:ln>
            <a:solidFill>
              <a:srgbClr val="CAD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68680" y="5833872"/>
            <a:ext cx="50292" cy="438912"/>
          </a:xfrm>
          <a:prstGeom prst="rect">
            <a:avLst/>
          </a:prstGeom>
          <a:solidFill>
            <a:srgbClr val="30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69848" y="5943600"/>
            <a:ext cx="10104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50" b="1">
                <a:solidFill>
                  <a:srgbClr val="19283A"/>
                </a:solidFill>
                <a:latin typeface="Aptos Display"/>
              </a:defRPr>
            </a:pPr>
            <a:r>
              <a:t>Data summary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9848" y="6318504"/>
            <a:ext cx="10104120" cy="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566576"/>
                </a:solidFill>
                <a:latin typeface="Aptos"/>
              </a:defRPr>
            </a:pPr>
            <a:r>
              <a:t>15 transactions • 8 loans • deposits = ₹1,21,000 • withdrawals = ₹35,000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9AA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30352" y="274320"/>
            <a:ext cx="96926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9283A"/>
                </a:solidFill>
                <a:latin typeface="Aptos Display"/>
              </a:defRPr>
            </a:pPr>
            <a:r>
              <a:t>6. INNER JOIN — Customer, Account &amp; Balance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86384"/>
            <a:ext cx="9601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566576"/>
                </a:solidFill>
                <a:latin typeface="Aptos"/>
              </a:defRPr>
            </a:pPr>
            <a:r>
              <a:t>Query + execution result • sequence from the submitted screenshots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66960" y="347472"/>
            <a:ext cx="1645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29AABE"/>
                </a:solidFill>
                <a:latin typeface="Aptos"/>
              </a:defRPr>
            </a:pPr>
            <a:r>
              <a:t>SQL ANALYSIS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188720"/>
            <a:ext cx="6812280" cy="1572768"/>
          </a:xfrm>
          <a:prstGeom prst="roundRect">
            <a:avLst/>
          </a:prstGeom>
          <a:solidFill>
            <a:srgbClr val="FFFFFF"/>
          </a:solidFill>
          <a:ln>
            <a:solidFill>
              <a:srgbClr val="CAD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9224" y="1243584"/>
            <a:ext cx="862737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566576"/>
                </a:solidFill>
                <a:latin typeface="Aptos"/>
              </a:defRPr>
            </a:pPr>
            <a:r>
              <a:rPr sz="1000" dirty="0"/>
              <a:t>SQL QUERY</a:t>
            </a:r>
          </a:p>
        </p:txBody>
      </p:sp>
      <p:pic>
        <p:nvPicPr>
          <p:cNvPr id="8" name="Picture 7" descr="9_inner_join_que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" y="1564226"/>
            <a:ext cx="6556248" cy="1050354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02920" y="2944368"/>
            <a:ext cx="6812280" cy="2788920"/>
          </a:xfrm>
          <a:prstGeom prst="roundRect">
            <a:avLst/>
          </a:prstGeom>
          <a:solidFill>
            <a:srgbClr val="FFFFFF"/>
          </a:solidFill>
          <a:ln>
            <a:solidFill>
              <a:srgbClr val="CAD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9224" y="2999232"/>
            <a:ext cx="1385316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566576"/>
                </a:solidFill>
                <a:latin typeface="Aptos"/>
              </a:defRPr>
            </a:pPr>
            <a:r>
              <a:rPr sz="1000" dirty="0"/>
              <a:t>EXECUTION OUTPUT</a:t>
            </a:r>
          </a:p>
        </p:txBody>
      </p:sp>
      <p:pic>
        <p:nvPicPr>
          <p:cNvPr id="11" name="Picture 10" descr="10_outpute_inner_jo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92498" y="3255264"/>
            <a:ext cx="3033123" cy="2395727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7589520" y="1188720"/>
            <a:ext cx="4069080" cy="1572768"/>
          </a:xfrm>
          <a:prstGeom prst="roundRect">
            <a:avLst/>
          </a:prstGeom>
          <a:solidFill>
            <a:srgbClr val="F4F7FA"/>
          </a:solidFill>
          <a:ln>
            <a:solidFill>
              <a:srgbClr val="CAD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7589520" y="1188720"/>
            <a:ext cx="50292" cy="1572768"/>
          </a:xfrm>
          <a:prstGeom prst="rect">
            <a:avLst/>
          </a:prstGeom>
          <a:solidFill>
            <a:srgbClr val="29AA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790688" y="1298448"/>
            <a:ext cx="37490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50" b="1">
                <a:solidFill>
                  <a:srgbClr val="19283A"/>
                </a:solidFill>
                <a:latin typeface="Aptos Display"/>
              </a:defRPr>
            </a:pPr>
            <a:r>
              <a:t>What the query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90688" y="1673352"/>
            <a:ext cx="3698748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566576"/>
                </a:solidFill>
                <a:latin typeface="Aptos"/>
              </a:defRPr>
            </a:pPr>
            <a:r>
              <a:rPr dirty="0"/>
              <a:t>Combines Customers and Accounts through </a:t>
            </a:r>
            <a:r>
              <a:rPr dirty="0" err="1"/>
              <a:t>Customer</a:t>
            </a:r>
            <a:r>
              <a:rPr lang="en-US" dirty="0" err="1"/>
              <a:t>_</a:t>
            </a:r>
            <a:r>
              <a:rPr dirty="0" err="1"/>
              <a:t>ID</a:t>
            </a:r>
            <a:r>
              <a:rPr dirty="0"/>
              <a:t> to show the customer, account number and balance.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589520" y="2980267"/>
            <a:ext cx="4069080" cy="1572768"/>
          </a:xfrm>
          <a:prstGeom prst="roundRect">
            <a:avLst/>
          </a:prstGeom>
          <a:solidFill>
            <a:srgbClr val="F4F7FA"/>
          </a:solidFill>
          <a:ln>
            <a:solidFill>
              <a:srgbClr val="CAD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589520" y="2971800"/>
            <a:ext cx="50292" cy="1572768"/>
          </a:xfrm>
          <a:prstGeom prst="rect">
            <a:avLst/>
          </a:prstGeom>
          <a:solidFill>
            <a:srgbClr val="30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790688" y="3081528"/>
            <a:ext cx="37490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50" b="1">
                <a:solidFill>
                  <a:srgbClr val="19283A"/>
                </a:solidFill>
                <a:latin typeface="Aptos Display"/>
              </a:defRPr>
            </a:pPr>
            <a:r>
              <a:t>Why it matters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90688" y="3456432"/>
            <a:ext cx="3698748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566576"/>
                </a:solidFill>
                <a:latin typeface="Aptos"/>
              </a:defRPr>
            </a:pPr>
            <a:r>
              <a:t>Demonstrates the basic relational lookup pattern used throughout the project.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589520" y="4754880"/>
            <a:ext cx="4069080" cy="978408"/>
          </a:xfrm>
          <a:prstGeom prst="roundRect">
            <a:avLst/>
          </a:prstGeom>
          <a:solidFill>
            <a:srgbClr val="F4F7FA"/>
          </a:solidFill>
          <a:ln>
            <a:solidFill>
              <a:srgbClr val="CAD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7589520" y="4754880"/>
            <a:ext cx="50292" cy="978408"/>
          </a:xfrm>
          <a:prstGeom prst="rect">
            <a:avLst/>
          </a:prstGeom>
          <a:solidFill>
            <a:srgbClr val="E28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790688" y="4864608"/>
            <a:ext cx="37490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50" b="1">
                <a:solidFill>
                  <a:srgbClr val="19283A"/>
                </a:solidFill>
                <a:latin typeface="Aptos Display"/>
              </a:defRPr>
            </a:pPr>
            <a:r>
              <a:t>SQL technique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90688" y="5239512"/>
            <a:ext cx="3749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566576"/>
                </a:solidFill>
                <a:latin typeface="Aptos"/>
              </a:defRPr>
            </a:pPr>
            <a:r>
              <a:t>JOIN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9AA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30352" y="274320"/>
            <a:ext cx="96926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9283A"/>
                </a:solidFill>
                <a:latin typeface="Aptos Display"/>
              </a:defRPr>
            </a:pPr>
            <a:r>
              <a:t>7. Top 3 Customers by Account Balance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86384"/>
            <a:ext cx="9601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566576"/>
                </a:solidFill>
                <a:latin typeface="Aptos"/>
              </a:defRPr>
            </a:pPr>
            <a:r>
              <a:t>Query + execution result • sequence from the submitted screenshots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66960" y="347472"/>
            <a:ext cx="1645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29AABE"/>
                </a:solidFill>
                <a:latin typeface="Aptos"/>
              </a:defRPr>
            </a:pPr>
            <a:r>
              <a:t>SQL ANALYSIS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188720"/>
            <a:ext cx="6812280" cy="1572768"/>
          </a:xfrm>
          <a:prstGeom prst="roundRect">
            <a:avLst/>
          </a:prstGeom>
          <a:solidFill>
            <a:srgbClr val="FFFFFF"/>
          </a:solidFill>
          <a:ln>
            <a:solidFill>
              <a:srgbClr val="CAD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9224" y="1243584"/>
            <a:ext cx="862737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566576"/>
                </a:solidFill>
                <a:latin typeface="Aptos"/>
              </a:defRPr>
            </a:pPr>
            <a:r>
              <a:rPr sz="1000" dirty="0"/>
              <a:t>SQL QUERY</a:t>
            </a:r>
          </a:p>
        </p:txBody>
      </p:sp>
      <p:pic>
        <p:nvPicPr>
          <p:cNvPr id="8" name="Picture 7" descr="11_top_3_high_bala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1103" y="1499616"/>
            <a:ext cx="5355912" cy="1179576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02920" y="2944368"/>
            <a:ext cx="6812280" cy="2788920"/>
          </a:xfrm>
          <a:prstGeom prst="roundRect">
            <a:avLst/>
          </a:prstGeom>
          <a:solidFill>
            <a:srgbClr val="FFFFFF"/>
          </a:solidFill>
          <a:ln>
            <a:solidFill>
              <a:srgbClr val="CAD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9224" y="2999232"/>
            <a:ext cx="1385316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566576"/>
                </a:solidFill>
                <a:latin typeface="Aptos"/>
              </a:defRPr>
            </a:pPr>
            <a:r>
              <a:rPr sz="1000" dirty="0"/>
              <a:t>EXECUTION OUTPUT</a:t>
            </a:r>
          </a:p>
        </p:txBody>
      </p:sp>
      <p:pic>
        <p:nvPicPr>
          <p:cNvPr id="11" name="Picture 10" descr="12_outpute_top_3_high_balanc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3972" y="3255264"/>
            <a:ext cx="5510174" cy="2395727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7589520" y="1188720"/>
            <a:ext cx="4069080" cy="1572768"/>
          </a:xfrm>
          <a:prstGeom prst="roundRect">
            <a:avLst/>
          </a:prstGeom>
          <a:solidFill>
            <a:srgbClr val="F4F7FA"/>
          </a:solidFill>
          <a:ln>
            <a:solidFill>
              <a:srgbClr val="CAD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7589520" y="1188720"/>
            <a:ext cx="50292" cy="1572768"/>
          </a:xfrm>
          <a:prstGeom prst="rect">
            <a:avLst/>
          </a:prstGeom>
          <a:solidFill>
            <a:srgbClr val="29AA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790688" y="1298448"/>
            <a:ext cx="37490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50" b="1">
                <a:solidFill>
                  <a:srgbClr val="19283A"/>
                </a:solidFill>
                <a:latin typeface="Aptos Display"/>
              </a:defRPr>
            </a:pPr>
            <a:r>
              <a:t>What the query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90688" y="1673352"/>
            <a:ext cx="3622379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566576"/>
                </a:solidFill>
                <a:latin typeface="Aptos"/>
              </a:defRPr>
            </a:pPr>
            <a:r>
              <a:t>Sorts balances in descending order and returns only the first three rows.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589520" y="2971800"/>
            <a:ext cx="4069080" cy="1572768"/>
          </a:xfrm>
          <a:prstGeom prst="roundRect">
            <a:avLst/>
          </a:prstGeom>
          <a:solidFill>
            <a:srgbClr val="F4F7FA"/>
          </a:solidFill>
          <a:ln>
            <a:solidFill>
              <a:srgbClr val="CAD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589520" y="2971800"/>
            <a:ext cx="50292" cy="1572768"/>
          </a:xfrm>
          <a:prstGeom prst="rect">
            <a:avLst/>
          </a:prstGeom>
          <a:solidFill>
            <a:srgbClr val="30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790688" y="3081528"/>
            <a:ext cx="37490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50" b="1">
                <a:solidFill>
                  <a:srgbClr val="19283A"/>
                </a:solidFill>
                <a:latin typeface="Aptos Display"/>
              </a:defRPr>
            </a:pPr>
            <a:r>
              <a:t>Why it matters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90688" y="3456432"/>
            <a:ext cx="374904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566576"/>
                </a:solidFill>
                <a:latin typeface="Aptos"/>
              </a:defRPr>
            </a:pPr>
            <a:r>
              <a:t>Useful for quickly identifying high-value account holders.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589520" y="4754880"/>
            <a:ext cx="4069080" cy="978408"/>
          </a:xfrm>
          <a:prstGeom prst="roundRect">
            <a:avLst/>
          </a:prstGeom>
          <a:solidFill>
            <a:srgbClr val="F4F7FA"/>
          </a:solidFill>
          <a:ln>
            <a:solidFill>
              <a:srgbClr val="CAD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7589520" y="4754880"/>
            <a:ext cx="50292" cy="978408"/>
          </a:xfrm>
          <a:prstGeom prst="rect">
            <a:avLst/>
          </a:prstGeom>
          <a:solidFill>
            <a:srgbClr val="E28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790688" y="4864608"/>
            <a:ext cx="37490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50" b="1">
                <a:solidFill>
                  <a:srgbClr val="19283A"/>
                </a:solidFill>
                <a:latin typeface="Aptos Display"/>
              </a:defRPr>
            </a:pPr>
            <a:r>
              <a:t>SQL technique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90688" y="5239512"/>
            <a:ext cx="3749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566576"/>
                </a:solidFill>
                <a:latin typeface="Aptos"/>
              </a:defRPr>
            </a:pPr>
            <a:r>
              <a:t>ORDER BY + LIMIT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9AA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30352" y="274320"/>
            <a:ext cx="96926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9283A"/>
                </a:solidFill>
                <a:latin typeface="Aptos Display"/>
              </a:defRPr>
            </a:pPr>
            <a:r>
              <a:t>8. Customers Who Have Taken Loans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86384"/>
            <a:ext cx="9601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566576"/>
                </a:solidFill>
                <a:latin typeface="Aptos"/>
              </a:defRPr>
            </a:pPr>
            <a:r>
              <a:t>Query + execution result • sequence from the submitted screenshots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66960" y="347472"/>
            <a:ext cx="1645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29AABE"/>
                </a:solidFill>
                <a:latin typeface="Aptos"/>
              </a:defRPr>
            </a:pPr>
            <a:r>
              <a:t>SQL ANALYSIS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188720"/>
            <a:ext cx="6812280" cy="1572768"/>
          </a:xfrm>
          <a:prstGeom prst="roundRect">
            <a:avLst/>
          </a:prstGeom>
          <a:solidFill>
            <a:srgbClr val="FFFFFF"/>
          </a:solidFill>
          <a:ln>
            <a:solidFill>
              <a:srgbClr val="CAD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9224" y="1243584"/>
            <a:ext cx="862737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566576"/>
                </a:solidFill>
                <a:latin typeface="Aptos"/>
              </a:defRPr>
            </a:pPr>
            <a:r>
              <a:rPr sz="1000" dirty="0"/>
              <a:t>SQL QUERY</a:t>
            </a:r>
          </a:p>
        </p:txBody>
      </p:sp>
      <p:pic>
        <p:nvPicPr>
          <p:cNvPr id="8" name="Picture 7" descr="13_loan_type_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" y="1635391"/>
            <a:ext cx="6556248" cy="908024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02920" y="2944368"/>
            <a:ext cx="6812280" cy="2788920"/>
          </a:xfrm>
          <a:prstGeom prst="roundRect">
            <a:avLst/>
          </a:prstGeom>
          <a:solidFill>
            <a:srgbClr val="FFFFFF"/>
          </a:solidFill>
          <a:ln>
            <a:solidFill>
              <a:srgbClr val="CAD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9224" y="2999232"/>
            <a:ext cx="1385316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566576"/>
                </a:solidFill>
                <a:latin typeface="Aptos"/>
              </a:defRPr>
            </a:pPr>
            <a:r>
              <a:rPr sz="1000" dirty="0"/>
              <a:t>EXECUTION OUTPUT</a:t>
            </a:r>
          </a:p>
        </p:txBody>
      </p:sp>
      <p:pic>
        <p:nvPicPr>
          <p:cNvPr id="11" name="Picture 10" descr="14_outpute_loan_typ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6107" y="3255264"/>
            <a:ext cx="4165904" cy="2395727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7589520" y="1188720"/>
            <a:ext cx="4069080" cy="1572768"/>
          </a:xfrm>
          <a:prstGeom prst="roundRect">
            <a:avLst/>
          </a:prstGeom>
          <a:solidFill>
            <a:srgbClr val="F4F7FA"/>
          </a:solidFill>
          <a:ln>
            <a:solidFill>
              <a:srgbClr val="CAD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7589520" y="1188720"/>
            <a:ext cx="50292" cy="1572768"/>
          </a:xfrm>
          <a:prstGeom prst="rect">
            <a:avLst/>
          </a:prstGeom>
          <a:solidFill>
            <a:srgbClr val="29AA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790688" y="1298448"/>
            <a:ext cx="37490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50" b="1">
                <a:solidFill>
                  <a:srgbClr val="19283A"/>
                </a:solidFill>
                <a:latin typeface="Aptos Display"/>
              </a:defRPr>
            </a:pPr>
            <a:r>
              <a:t>What the query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90688" y="1673352"/>
            <a:ext cx="3605445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566576"/>
                </a:solidFill>
                <a:latin typeface="Aptos"/>
              </a:defRPr>
            </a:pPr>
            <a:r>
              <a:rPr dirty="0"/>
              <a:t>Joins Customers with Loans to display borrower, loan amount and loan type.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589520" y="2971800"/>
            <a:ext cx="4069080" cy="1572768"/>
          </a:xfrm>
          <a:prstGeom prst="roundRect">
            <a:avLst/>
          </a:prstGeom>
          <a:solidFill>
            <a:srgbClr val="F4F7FA"/>
          </a:solidFill>
          <a:ln>
            <a:solidFill>
              <a:srgbClr val="CAD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589520" y="2971800"/>
            <a:ext cx="50292" cy="1572768"/>
          </a:xfrm>
          <a:prstGeom prst="rect">
            <a:avLst/>
          </a:prstGeom>
          <a:solidFill>
            <a:srgbClr val="30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790688" y="3081528"/>
            <a:ext cx="37490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50" b="1">
                <a:solidFill>
                  <a:srgbClr val="19283A"/>
                </a:solidFill>
                <a:latin typeface="Aptos Display"/>
              </a:defRPr>
            </a:pPr>
            <a:r>
              <a:t>Why it matters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90688" y="3456432"/>
            <a:ext cx="3605445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566576"/>
                </a:solidFill>
                <a:latin typeface="Aptos"/>
              </a:defRPr>
            </a:pPr>
            <a:r>
              <a:t>Connects customer information with lending activity.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589520" y="4754880"/>
            <a:ext cx="4069080" cy="978408"/>
          </a:xfrm>
          <a:prstGeom prst="roundRect">
            <a:avLst/>
          </a:prstGeom>
          <a:solidFill>
            <a:srgbClr val="F4F7FA"/>
          </a:solidFill>
          <a:ln>
            <a:solidFill>
              <a:srgbClr val="CAD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7589520" y="4754880"/>
            <a:ext cx="50292" cy="978408"/>
          </a:xfrm>
          <a:prstGeom prst="rect">
            <a:avLst/>
          </a:prstGeom>
          <a:solidFill>
            <a:srgbClr val="E28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790688" y="4864608"/>
            <a:ext cx="37490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50" b="1">
                <a:solidFill>
                  <a:srgbClr val="19283A"/>
                </a:solidFill>
                <a:latin typeface="Aptos Display"/>
              </a:defRPr>
            </a:pPr>
            <a:r>
              <a:t>SQL technique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90688" y="5239512"/>
            <a:ext cx="3749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566576"/>
                </a:solidFill>
                <a:latin typeface="Aptos"/>
              </a:defRPr>
            </a:pPr>
            <a:r>
              <a:t>INNER JOIN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9AA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30352" y="274320"/>
            <a:ext cx="96926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9283A"/>
                </a:solidFill>
                <a:latin typeface="Aptos Display"/>
              </a:defRPr>
            </a:pPr>
            <a:r>
              <a:t>9. Total Deposits vs Withdrawals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86384"/>
            <a:ext cx="9601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566576"/>
                </a:solidFill>
                <a:latin typeface="Aptos"/>
              </a:defRPr>
            </a:pPr>
            <a:r>
              <a:t>Query + execution result • sequence from the submitted screenshots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66960" y="347472"/>
            <a:ext cx="1645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29AABE"/>
                </a:solidFill>
                <a:latin typeface="Aptos"/>
              </a:defRPr>
            </a:pPr>
            <a:r>
              <a:t>SQL ANALYSIS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188720"/>
            <a:ext cx="6812280" cy="1572768"/>
          </a:xfrm>
          <a:prstGeom prst="roundRect">
            <a:avLst/>
          </a:prstGeom>
          <a:solidFill>
            <a:srgbClr val="FFFFFF"/>
          </a:solidFill>
          <a:ln>
            <a:solidFill>
              <a:srgbClr val="CAD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9224" y="1243584"/>
            <a:ext cx="862737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566576"/>
                </a:solidFill>
                <a:latin typeface="Aptos"/>
              </a:defRPr>
            </a:pPr>
            <a:r>
              <a:rPr sz="1000" dirty="0"/>
              <a:t>SQL QUERY</a:t>
            </a:r>
          </a:p>
        </p:txBody>
      </p:sp>
      <p:pic>
        <p:nvPicPr>
          <p:cNvPr id="8" name="Picture 7" descr="15_deposite_withdr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" y="1590926"/>
            <a:ext cx="6556248" cy="996955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02920" y="2944368"/>
            <a:ext cx="6812280" cy="2788920"/>
          </a:xfrm>
          <a:prstGeom prst="roundRect">
            <a:avLst/>
          </a:prstGeom>
          <a:solidFill>
            <a:srgbClr val="FFFFFF"/>
          </a:solidFill>
          <a:ln>
            <a:solidFill>
              <a:srgbClr val="CAD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9224" y="2999232"/>
            <a:ext cx="1385316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566576"/>
                </a:solidFill>
                <a:latin typeface="Aptos"/>
              </a:defRPr>
            </a:pPr>
            <a:r>
              <a:rPr sz="1000" dirty="0"/>
              <a:t>EXECUTION OUTPUT</a:t>
            </a:r>
          </a:p>
        </p:txBody>
      </p:sp>
      <p:pic>
        <p:nvPicPr>
          <p:cNvPr id="11" name="Picture 10" descr="16_outpute_diposite_withdro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" y="3527021"/>
            <a:ext cx="6556247" cy="1852213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7589520" y="1188720"/>
            <a:ext cx="4069080" cy="1572768"/>
          </a:xfrm>
          <a:prstGeom prst="roundRect">
            <a:avLst/>
          </a:prstGeom>
          <a:solidFill>
            <a:srgbClr val="F4F7FA"/>
          </a:solidFill>
          <a:ln>
            <a:solidFill>
              <a:srgbClr val="CAD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7589520" y="1188720"/>
            <a:ext cx="50292" cy="1572768"/>
          </a:xfrm>
          <a:prstGeom prst="rect">
            <a:avLst/>
          </a:prstGeom>
          <a:solidFill>
            <a:srgbClr val="29AA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790688" y="1298448"/>
            <a:ext cx="37490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50" b="1">
                <a:solidFill>
                  <a:srgbClr val="19283A"/>
                </a:solidFill>
                <a:latin typeface="Aptos Display"/>
              </a:defRPr>
            </a:pPr>
            <a:r>
              <a:t>What the query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90688" y="1673352"/>
            <a:ext cx="374904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566576"/>
                </a:solidFill>
                <a:latin typeface="Aptos"/>
              </a:defRPr>
            </a:pPr>
            <a:r>
              <a:t>Groups transactions by type and calculates SUM(Amount).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589520" y="2971800"/>
            <a:ext cx="4069080" cy="1572768"/>
          </a:xfrm>
          <a:prstGeom prst="roundRect">
            <a:avLst/>
          </a:prstGeom>
          <a:solidFill>
            <a:srgbClr val="F4F7FA"/>
          </a:solidFill>
          <a:ln>
            <a:solidFill>
              <a:srgbClr val="CAD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589520" y="2971800"/>
            <a:ext cx="50292" cy="1572768"/>
          </a:xfrm>
          <a:prstGeom prst="rect">
            <a:avLst/>
          </a:prstGeom>
          <a:solidFill>
            <a:srgbClr val="30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790688" y="3081528"/>
            <a:ext cx="37490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50" b="1">
                <a:solidFill>
                  <a:srgbClr val="19283A"/>
                </a:solidFill>
                <a:latin typeface="Aptos Display"/>
              </a:defRPr>
            </a:pPr>
            <a:r>
              <a:t>Why it matters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90688" y="3456432"/>
            <a:ext cx="374904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566576"/>
                </a:solidFill>
                <a:latin typeface="Aptos"/>
              </a:defRPr>
            </a:pPr>
            <a:r>
              <a:t>Gives a quick view of money flowing into and out of accounts.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589520" y="4754880"/>
            <a:ext cx="4069080" cy="978408"/>
          </a:xfrm>
          <a:prstGeom prst="roundRect">
            <a:avLst/>
          </a:prstGeom>
          <a:solidFill>
            <a:srgbClr val="F4F7FA"/>
          </a:solidFill>
          <a:ln>
            <a:solidFill>
              <a:srgbClr val="CAD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7589520" y="4754880"/>
            <a:ext cx="50292" cy="978408"/>
          </a:xfrm>
          <a:prstGeom prst="rect">
            <a:avLst/>
          </a:prstGeom>
          <a:solidFill>
            <a:srgbClr val="E28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790688" y="4864608"/>
            <a:ext cx="37490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50" b="1">
                <a:solidFill>
                  <a:srgbClr val="19283A"/>
                </a:solidFill>
                <a:latin typeface="Aptos Display"/>
              </a:defRPr>
            </a:pPr>
            <a:r>
              <a:t>SQL technique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90688" y="5239512"/>
            <a:ext cx="3749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566576"/>
                </a:solidFill>
                <a:latin typeface="Aptos"/>
              </a:defRPr>
            </a:pPr>
            <a:r>
              <a:t>GROUP BY + SUM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9AA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30352" y="274320"/>
            <a:ext cx="96926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9283A"/>
                </a:solidFill>
                <a:latin typeface="Aptos Display"/>
              </a:defRPr>
            </a:pPr>
            <a:r>
              <a:t>10. Customer-wise Total Transaction Amount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86384"/>
            <a:ext cx="9601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566576"/>
                </a:solidFill>
                <a:latin typeface="Aptos"/>
              </a:defRPr>
            </a:pPr>
            <a:r>
              <a:t>Query + execution result • sequence from the submitted screenshots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66960" y="347472"/>
            <a:ext cx="1645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29AABE"/>
                </a:solidFill>
                <a:latin typeface="Aptos"/>
              </a:defRPr>
            </a:pPr>
            <a:r>
              <a:t>SQL ANALYSIS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188720"/>
            <a:ext cx="6812280" cy="1572768"/>
          </a:xfrm>
          <a:prstGeom prst="roundRect">
            <a:avLst/>
          </a:prstGeom>
          <a:solidFill>
            <a:srgbClr val="FFFFFF"/>
          </a:solidFill>
          <a:ln>
            <a:solidFill>
              <a:srgbClr val="CAD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9224" y="1243584"/>
            <a:ext cx="862737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566576"/>
                </a:solidFill>
                <a:latin typeface="Aptos"/>
              </a:defRPr>
            </a:pPr>
            <a:r>
              <a:rPr sz="1000" dirty="0"/>
              <a:t>SQL QUERY</a:t>
            </a:r>
          </a:p>
        </p:txBody>
      </p:sp>
      <p:pic>
        <p:nvPicPr>
          <p:cNvPr id="8" name="Picture 7" descr="17_group_b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6048" y="1499616"/>
            <a:ext cx="5786023" cy="1179576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02920" y="2944368"/>
            <a:ext cx="6812280" cy="2788920"/>
          </a:xfrm>
          <a:prstGeom prst="roundRect">
            <a:avLst/>
          </a:prstGeom>
          <a:solidFill>
            <a:srgbClr val="FFFFFF"/>
          </a:solidFill>
          <a:ln>
            <a:solidFill>
              <a:srgbClr val="CAD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9224" y="2999232"/>
            <a:ext cx="1385316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566576"/>
                </a:solidFill>
                <a:latin typeface="Aptos"/>
              </a:defRPr>
            </a:pPr>
            <a:r>
              <a:rPr sz="1000" dirty="0"/>
              <a:t>EXECUTION OUTPUT</a:t>
            </a:r>
          </a:p>
        </p:txBody>
      </p:sp>
      <p:pic>
        <p:nvPicPr>
          <p:cNvPr id="11" name="Picture 10" descr="18_outpute_totale_transaction_group_b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02244" y="3255264"/>
            <a:ext cx="3013630" cy="2395727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7589520" y="1188720"/>
            <a:ext cx="4069080" cy="1572768"/>
          </a:xfrm>
          <a:prstGeom prst="roundRect">
            <a:avLst/>
          </a:prstGeom>
          <a:solidFill>
            <a:srgbClr val="F4F7FA"/>
          </a:solidFill>
          <a:ln>
            <a:solidFill>
              <a:srgbClr val="CAD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7589520" y="1188720"/>
            <a:ext cx="50292" cy="1572768"/>
          </a:xfrm>
          <a:prstGeom prst="rect">
            <a:avLst/>
          </a:prstGeom>
          <a:solidFill>
            <a:srgbClr val="29AA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790688" y="1298448"/>
            <a:ext cx="37490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50" b="1">
                <a:solidFill>
                  <a:srgbClr val="19283A"/>
                </a:solidFill>
                <a:latin typeface="Aptos Display"/>
              </a:defRPr>
            </a:pPr>
            <a:r>
              <a:t>What the query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90688" y="1673352"/>
            <a:ext cx="3698748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566576"/>
                </a:solidFill>
                <a:latin typeface="Aptos"/>
              </a:defRPr>
            </a:pPr>
            <a:r>
              <a:t>Joins Customers → Accounts → Transactions and totals each customer's transaction amount.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589520" y="2971800"/>
            <a:ext cx="4069080" cy="1572768"/>
          </a:xfrm>
          <a:prstGeom prst="roundRect">
            <a:avLst/>
          </a:prstGeom>
          <a:solidFill>
            <a:srgbClr val="F4F7FA"/>
          </a:solidFill>
          <a:ln>
            <a:solidFill>
              <a:srgbClr val="CAD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589520" y="2971800"/>
            <a:ext cx="50292" cy="1572768"/>
          </a:xfrm>
          <a:prstGeom prst="rect">
            <a:avLst/>
          </a:prstGeom>
          <a:solidFill>
            <a:srgbClr val="30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790688" y="3081528"/>
            <a:ext cx="37490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50" b="1">
                <a:solidFill>
                  <a:srgbClr val="19283A"/>
                </a:solidFill>
                <a:latin typeface="Aptos Display"/>
              </a:defRPr>
            </a:pPr>
            <a:r>
              <a:t>Why it matters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90688" y="3456432"/>
            <a:ext cx="3648456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566576"/>
                </a:solidFill>
                <a:latin typeface="Aptos"/>
              </a:defRPr>
            </a:pPr>
            <a:r>
              <a:t>Measures customer transaction activity.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589520" y="4754880"/>
            <a:ext cx="4069080" cy="978408"/>
          </a:xfrm>
          <a:prstGeom prst="roundRect">
            <a:avLst/>
          </a:prstGeom>
          <a:solidFill>
            <a:srgbClr val="F4F7FA"/>
          </a:solidFill>
          <a:ln>
            <a:solidFill>
              <a:srgbClr val="CAD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7589520" y="4754880"/>
            <a:ext cx="50292" cy="978408"/>
          </a:xfrm>
          <a:prstGeom prst="rect">
            <a:avLst/>
          </a:prstGeom>
          <a:solidFill>
            <a:srgbClr val="E28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790688" y="4864608"/>
            <a:ext cx="37490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50" b="1">
                <a:solidFill>
                  <a:srgbClr val="19283A"/>
                </a:solidFill>
                <a:latin typeface="Aptos Display"/>
              </a:defRPr>
            </a:pPr>
            <a:r>
              <a:t>SQL technique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90688" y="5239512"/>
            <a:ext cx="3749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566576"/>
                </a:solidFill>
                <a:latin typeface="Aptos"/>
              </a:defRPr>
            </a:pPr>
            <a:r>
              <a:t>GROUP BY + SUM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9AA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30352" y="274320"/>
            <a:ext cx="96926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9283A"/>
                </a:solidFill>
                <a:latin typeface="Aptos Display"/>
              </a:defRPr>
            </a:pPr>
            <a:r>
              <a:t>11. Customers Above Average Balance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86384"/>
            <a:ext cx="9601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566576"/>
                </a:solidFill>
                <a:latin typeface="Aptos"/>
              </a:defRPr>
            </a:pPr>
            <a:r>
              <a:t>Query + execution result • sequence from the submitted screenshots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66960" y="347472"/>
            <a:ext cx="1645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29AABE"/>
                </a:solidFill>
                <a:latin typeface="Aptos"/>
              </a:defRPr>
            </a:pPr>
            <a:r>
              <a:t>SQL ANALYSIS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188720"/>
            <a:ext cx="6812280" cy="1572768"/>
          </a:xfrm>
          <a:prstGeom prst="roundRect">
            <a:avLst/>
          </a:prstGeom>
          <a:solidFill>
            <a:srgbClr val="FFFFFF"/>
          </a:solidFill>
          <a:ln>
            <a:solidFill>
              <a:srgbClr val="CAD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9224" y="1243584"/>
            <a:ext cx="862737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566576"/>
                </a:solidFill>
                <a:latin typeface="Aptos"/>
              </a:defRPr>
            </a:pPr>
            <a:r>
              <a:rPr sz="1000" dirty="0"/>
              <a:t>SQL QUERY</a:t>
            </a:r>
          </a:p>
        </p:txBody>
      </p:sp>
      <p:pic>
        <p:nvPicPr>
          <p:cNvPr id="8" name="Picture 7" descr="19_avg_bal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" y="1506310"/>
            <a:ext cx="6556248" cy="1166187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02920" y="2944368"/>
            <a:ext cx="6812280" cy="2788920"/>
          </a:xfrm>
          <a:prstGeom prst="roundRect">
            <a:avLst/>
          </a:prstGeom>
          <a:solidFill>
            <a:srgbClr val="FFFFFF"/>
          </a:solidFill>
          <a:ln>
            <a:solidFill>
              <a:srgbClr val="CAD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9224" y="2999232"/>
            <a:ext cx="1385316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566576"/>
                </a:solidFill>
                <a:latin typeface="Aptos"/>
              </a:defRPr>
            </a:pPr>
            <a:r>
              <a:rPr sz="1000" dirty="0"/>
              <a:t>EXECUTION OUTPUT</a:t>
            </a:r>
          </a:p>
        </p:txBody>
      </p:sp>
      <p:pic>
        <p:nvPicPr>
          <p:cNvPr id="11" name="Picture 10" descr="20_outpute_avg_bala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8964" y="3255263"/>
            <a:ext cx="4700190" cy="2395728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7589520" y="1188720"/>
            <a:ext cx="4069080" cy="1572768"/>
          </a:xfrm>
          <a:prstGeom prst="roundRect">
            <a:avLst/>
          </a:prstGeom>
          <a:solidFill>
            <a:srgbClr val="F4F7FA"/>
          </a:solidFill>
          <a:ln>
            <a:solidFill>
              <a:srgbClr val="CAD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7589520" y="1188720"/>
            <a:ext cx="50292" cy="1572768"/>
          </a:xfrm>
          <a:prstGeom prst="rect">
            <a:avLst/>
          </a:prstGeom>
          <a:solidFill>
            <a:srgbClr val="29AA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790688" y="1298448"/>
            <a:ext cx="37490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50" b="1">
                <a:solidFill>
                  <a:srgbClr val="19283A"/>
                </a:solidFill>
                <a:latin typeface="Aptos Display"/>
              </a:defRPr>
            </a:pPr>
            <a:r>
              <a:t>What the query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90688" y="1673352"/>
            <a:ext cx="3598164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566576"/>
                </a:solidFill>
                <a:latin typeface="Aptos"/>
              </a:defRPr>
            </a:pPr>
            <a:r>
              <a:t>Calculates the average balance in a subquery and returns customers above that value.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589520" y="2971800"/>
            <a:ext cx="4069080" cy="1572768"/>
          </a:xfrm>
          <a:prstGeom prst="roundRect">
            <a:avLst/>
          </a:prstGeom>
          <a:solidFill>
            <a:srgbClr val="F4F7FA"/>
          </a:solidFill>
          <a:ln>
            <a:solidFill>
              <a:srgbClr val="CAD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589520" y="2971800"/>
            <a:ext cx="50292" cy="1572768"/>
          </a:xfrm>
          <a:prstGeom prst="rect">
            <a:avLst/>
          </a:prstGeom>
          <a:solidFill>
            <a:srgbClr val="30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790688" y="3081528"/>
            <a:ext cx="37490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50" b="1">
                <a:solidFill>
                  <a:srgbClr val="19283A"/>
                </a:solidFill>
                <a:latin typeface="Aptos Display"/>
              </a:defRPr>
            </a:pPr>
            <a:r>
              <a:t>Why it matters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90688" y="3374136"/>
            <a:ext cx="3698748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566576"/>
                </a:solidFill>
                <a:latin typeface="Aptos"/>
              </a:defRPr>
            </a:pPr>
            <a:r>
              <a:t>Shows how a calculated benchmark can be used for filtering.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589520" y="4754880"/>
            <a:ext cx="4069080" cy="978408"/>
          </a:xfrm>
          <a:prstGeom prst="roundRect">
            <a:avLst/>
          </a:prstGeom>
          <a:solidFill>
            <a:srgbClr val="F4F7FA"/>
          </a:solidFill>
          <a:ln>
            <a:solidFill>
              <a:srgbClr val="CAD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7589520" y="4754880"/>
            <a:ext cx="50292" cy="978408"/>
          </a:xfrm>
          <a:prstGeom prst="rect">
            <a:avLst/>
          </a:prstGeom>
          <a:solidFill>
            <a:srgbClr val="E28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790688" y="4864608"/>
            <a:ext cx="37490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50" b="1">
                <a:solidFill>
                  <a:srgbClr val="19283A"/>
                </a:solidFill>
                <a:latin typeface="Aptos Display"/>
              </a:defRPr>
            </a:pPr>
            <a:r>
              <a:t>SQL technique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90688" y="5239512"/>
            <a:ext cx="3749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566576"/>
                </a:solidFill>
                <a:latin typeface="Aptos"/>
              </a:defRPr>
            </a:pPr>
            <a:r>
              <a:t>SUBQUERY + AVG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9AA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30352" y="274320"/>
            <a:ext cx="96926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9283A"/>
                </a:solidFill>
                <a:latin typeface="Aptos Display"/>
              </a:defRPr>
            </a:pPr>
            <a:r>
              <a:t>12. Highest Transaction per Customer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86384"/>
            <a:ext cx="9601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566576"/>
                </a:solidFill>
                <a:latin typeface="Aptos"/>
              </a:defRPr>
            </a:pPr>
            <a:r>
              <a:t>Query + execution result • sequence from the submitted screenshots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66960" y="347472"/>
            <a:ext cx="1645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29AABE"/>
                </a:solidFill>
                <a:latin typeface="Aptos"/>
              </a:defRPr>
            </a:pPr>
            <a:r>
              <a:t>SQL ANALYSIS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188720"/>
            <a:ext cx="6812280" cy="1572768"/>
          </a:xfrm>
          <a:prstGeom prst="roundRect">
            <a:avLst/>
          </a:prstGeom>
          <a:solidFill>
            <a:srgbClr val="FFFFFF"/>
          </a:solidFill>
          <a:ln>
            <a:solidFill>
              <a:srgbClr val="CAD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9224" y="1243584"/>
            <a:ext cx="862737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566576"/>
                </a:solidFill>
                <a:latin typeface="Aptos"/>
              </a:defRPr>
            </a:pPr>
            <a:r>
              <a:rPr sz="1000" dirty="0"/>
              <a:t>SQL QUERY</a:t>
            </a:r>
          </a:p>
        </p:txBody>
      </p:sp>
      <p:pic>
        <p:nvPicPr>
          <p:cNvPr id="8" name="Picture 7" descr="21_high_transaction_amou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335" y="1499616"/>
            <a:ext cx="5825449" cy="1179576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02920" y="2944368"/>
            <a:ext cx="6812280" cy="2788920"/>
          </a:xfrm>
          <a:prstGeom prst="roundRect">
            <a:avLst/>
          </a:prstGeom>
          <a:solidFill>
            <a:srgbClr val="FFFFFF"/>
          </a:solidFill>
          <a:ln>
            <a:solidFill>
              <a:srgbClr val="CAD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9224" y="2999232"/>
            <a:ext cx="1385316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566576"/>
                </a:solidFill>
                <a:latin typeface="Aptos"/>
              </a:defRPr>
            </a:pPr>
            <a:r>
              <a:rPr sz="1000" dirty="0"/>
              <a:t>EXECUTION OUTPUT</a:t>
            </a:r>
          </a:p>
        </p:txBody>
      </p:sp>
      <p:pic>
        <p:nvPicPr>
          <p:cNvPr id="11" name="Picture 10" descr="22_outpute_high_transaction_amou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4179" y="3255264"/>
            <a:ext cx="3249760" cy="2395727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7589520" y="1188720"/>
            <a:ext cx="4069080" cy="1572768"/>
          </a:xfrm>
          <a:prstGeom prst="roundRect">
            <a:avLst/>
          </a:prstGeom>
          <a:solidFill>
            <a:srgbClr val="F4F7FA"/>
          </a:solidFill>
          <a:ln>
            <a:solidFill>
              <a:srgbClr val="CAD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7589520" y="1188720"/>
            <a:ext cx="50292" cy="1572768"/>
          </a:xfrm>
          <a:prstGeom prst="rect">
            <a:avLst/>
          </a:prstGeom>
          <a:solidFill>
            <a:srgbClr val="29AA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790688" y="1298448"/>
            <a:ext cx="37490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50" b="1">
                <a:solidFill>
                  <a:srgbClr val="19283A"/>
                </a:solidFill>
                <a:latin typeface="Aptos Display"/>
              </a:defRPr>
            </a:pPr>
            <a:r>
              <a:t>What the query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90688" y="1673352"/>
            <a:ext cx="3614420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566576"/>
                </a:solidFill>
                <a:latin typeface="Aptos"/>
              </a:defRPr>
            </a:pPr>
            <a:r>
              <a:t>Groups transactions by customer and finds the maximum transaction amount.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589520" y="2971800"/>
            <a:ext cx="4069080" cy="1572768"/>
          </a:xfrm>
          <a:prstGeom prst="roundRect">
            <a:avLst/>
          </a:prstGeom>
          <a:solidFill>
            <a:srgbClr val="F4F7FA"/>
          </a:solidFill>
          <a:ln>
            <a:solidFill>
              <a:srgbClr val="CAD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589520" y="2971800"/>
            <a:ext cx="50292" cy="1572768"/>
          </a:xfrm>
          <a:prstGeom prst="rect">
            <a:avLst/>
          </a:prstGeom>
          <a:solidFill>
            <a:srgbClr val="30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790688" y="3081528"/>
            <a:ext cx="37490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50" b="1">
                <a:solidFill>
                  <a:srgbClr val="19283A"/>
                </a:solidFill>
                <a:latin typeface="Aptos Display"/>
              </a:defRPr>
            </a:pPr>
            <a:r>
              <a:t>Why it matters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90688" y="3456432"/>
            <a:ext cx="374904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566576"/>
                </a:solidFill>
                <a:latin typeface="Aptos"/>
              </a:defRPr>
            </a:pPr>
            <a:r>
              <a:t>Identifies each customer's largest transaction.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589520" y="4754880"/>
            <a:ext cx="4069080" cy="978408"/>
          </a:xfrm>
          <a:prstGeom prst="roundRect">
            <a:avLst/>
          </a:prstGeom>
          <a:solidFill>
            <a:srgbClr val="F4F7FA"/>
          </a:solidFill>
          <a:ln>
            <a:solidFill>
              <a:srgbClr val="CAD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7589520" y="4754880"/>
            <a:ext cx="50292" cy="978408"/>
          </a:xfrm>
          <a:prstGeom prst="rect">
            <a:avLst/>
          </a:prstGeom>
          <a:solidFill>
            <a:srgbClr val="E28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790688" y="4864608"/>
            <a:ext cx="37490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50" b="1">
                <a:solidFill>
                  <a:srgbClr val="19283A"/>
                </a:solidFill>
                <a:latin typeface="Aptos Display"/>
              </a:defRPr>
            </a:pPr>
            <a:r>
              <a:t>SQL technique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90688" y="5239512"/>
            <a:ext cx="3749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566576"/>
                </a:solidFill>
                <a:latin typeface="Aptos"/>
              </a:defRPr>
            </a:pPr>
            <a:r>
              <a:t>GROUP BY + MAX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9AA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30352" y="274320"/>
            <a:ext cx="96926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9283A"/>
                </a:solidFill>
                <a:latin typeface="Aptos Display"/>
              </a:defRPr>
            </a:pPr>
            <a:r>
              <a:t>13. Customers Without Loans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86384"/>
            <a:ext cx="9601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566576"/>
                </a:solidFill>
                <a:latin typeface="Aptos"/>
              </a:defRPr>
            </a:pPr>
            <a:r>
              <a:t>Query + execution result • sequence from the submitted screenshots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66960" y="347472"/>
            <a:ext cx="1645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29AABE"/>
                </a:solidFill>
                <a:latin typeface="Aptos"/>
              </a:defRPr>
            </a:pPr>
            <a:r>
              <a:t>SQL ANALYSIS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188720"/>
            <a:ext cx="6812280" cy="1572768"/>
          </a:xfrm>
          <a:prstGeom prst="roundRect">
            <a:avLst/>
          </a:prstGeom>
          <a:solidFill>
            <a:srgbClr val="FFFFFF"/>
          </a:solidFill>
          <a:ln>
            <a:solidFill>
              <a:srgbClr val="CAD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9224" y="1243584"/>
            <a:ext cx="862737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566576"/>
                </a:solidFill>
                <a:latin typeface="Aptos"/>
              </a:defRPr>
            </a:pPr>
            <a:r>
              <a:rPr sz="1000" dirty="0"/>
              <a:t>SQL QUERY</a:t>
            </a:r>
          </a:p>
        </p:txBody>
      </p:sp>
      <p:pic>
        <p:nvPicPr>
          <p:cNvPr id="8" name="Picture 7" descr="23_not_taken_lo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1106" y="1499616"/>
            <a:ext cx="4795907" cy="1179576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02920" y="2944368"/>
            <a:ext cx="6812280" cy="2788920"/>
          </a:xfrm>
          <a:prstGeom prst="roundRect">
            <a:avLst/>
          </a:prstGeom>
          <a:solidFill>
            <a:srgbClr val="FFFFFF"/>
          </a:solidFill>
          <a:ln>
            <a:solidFill>
              <a:srgbClr val="CAD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9224" y="2999232"/>
            <a:ext cx="1385316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566576"/>
                </a:solidFill>
                <a:latin typeface="Aptos"/>
              </a:defRPr>
            </a:pPr>
            <a:r>
              <a:rPr sz="1000" dirty="0"/>
              <a:t>EXECUTION OUTPUT</a:t>
            </a:r>
          </a:p>
        </p:txBody>
      </p:sp>
      <p:pic>
        <p:nvPicPr>
          <p:cNvPr id="11" name="Picture 10" descr="24_outpute_not_taken_lo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" y="3494026"/>
            <a:ext cx="6556248" cy="1918203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7589520" y="1188720"/>
            <a:ext cx="4069080" cy="1572768"/>
          </a:xfrm>
          <a:prstGeom prst="roundRect">
            <a:avLst/>
          </a:prstGeom>
          <a:solidFill>
            <a:srgbClr val="F4F7FA"/>
          </a:solidFill>
          <a:ln>
            <a:solidFill>
              <a:srgbClr val="CAD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7589520" y="1188720"/>
            <a:ext cx="50292" cy="1572768"/>
          </a:xfrm>
          <a:prstGeom prst="rect">
            <a:avLst/>
          </a:prstGeom>
          <a:solidFill>
            <a:srgbClr val="29AA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790688" y="1298448"/>
            <a:ext cx="37490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50" b="1">
                <a:solidFill>
                  <a:srgbClr val="19283A"/>
                </a:solidFill>
                <a:latin typeface="Aptos Display"/>
              </a:defRPr>
            </a:pPr>
            <a:r>
              <a:t>What the query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90688" y="1673352"/>
            <a:ext cx="374904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566576"/>
                </a:solidFill>
                <a:latin typeface="Aptos"/>
              </a:defRPr>
            </a:pPr>
            <a:r>
              <a:t>Uses LEFT JOIN and checks for NULL loan records.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589520" y="2971800"/>
            <a:ext cx="4069080" cy="1572768"/>
          </a:xfrm>
          <a:prstGeom prst="roundRect">
            <a:avLst/>
          </a:prstGeom>
          <a:solidFill>
            <a:srgbClr val="F4F7FA"/>
          </a:solidFill>
          <a:ln>
            <a:solidFill>
              <a:srgbClr val="CAD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589520" y="2971800"/>
            <a:ext cx="50292" cy="1572768"/>
          </a:xfrm>
          <a:prstGeom prst="rect">
            <a:avLst/>
          </a:prstGeom>
          <a:solidFill>
            <a:srgbClr val="30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790688" y="3081528"/>
            <a:ext cx="37490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50" b="1">
                <a:solidFill>
                  <a:srgbClr val="19283A"/>
                </a:solidFill>
                <a:latin typeface="Aptos Display"/>
              </a:defRPr>
            </a:pPr>
            <a:r>
              <a:t>Why it matters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90688" y="3456432"/>
            <a:ext cx="3698748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566576"/>
                </a:solidFill>
                <a:latin typeface="Aptos"/>
              </a:defRPr>
            </a:pPr>
            <a:r>
              <a:t>Finds customers who have accounts but no matching loan record.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589520" y="4754880"/>
            <a:ext cx="4069080" cy="978408"/>
          </a:xfrm>
          <a:prstGeom prst="roundRect">
            <a:avLst/>
          </a:prstGeom>
          <a:solidFill>
            <a:srgbClr val="F4F7FA"/>
          </a:solidFill>
          <a:ln>
            <a:solidFill>
              <a:srgbClr val="CAD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7589520" y="4754880"/>
            <a:ext cx="50292" cy="978408"/>
          </a:xfrm>
          <a:prstGeom prst="rect">
            <a:avLst/>
          </a:prstGeom>
          <a:solidFill>
            <a:srgbClr val="E28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790688" y="4864608"/>
            <a:ext cx="37490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50" b="1">
                <a:solidFill>
                  <a:srgbClr val="19283A"/>
                </a:solidFill>
                <a:latin typeface="Aptos Display"/>
              </a:defRPr>
            </a:pPr>
            <a:r>
              <a:t>SQL technique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90688" y="5239512"/>
            <a:ext cx="3749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566576"/>
                </a:solidFill>
                <a:latin typeface="Aptos"/>
              </a:defRPr>
            </a:pPr>
            <a:r>
              <a:t>LEFT JOIN + IS NULL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9AA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30352" y="274320"/>
            <a:ext cx="96926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9283A"/>
                </a:solidFill>
                <a:latin typeface="Aptos Display"/>
              </a:defRPr>
            </a:pPr>
            <a:r>
              <a:t>14. Number of Transactions per Customer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86384"/>
            <a:ext cx="9601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566576"/>
                </a:solidFill>
                <a:latin typeface="Aptos"/>
              </a:defRPr>
            </a:pPr>
            <a:r>
              <a:t>Query + execution result • sequence from the submitted screenshots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66960" y="347472"/>
            <a:ext cx="1645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29AABE"/>
                </a:solidFill>
                <a:latin typeface="Aptos"/>
              </a:defRPr>
            </a:pPr>
            <a:r>
              <a:t>SQL ANALYSIS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188720"/>
            <a:ext cx="6812280" cy="1572768"/>
          </a:xfrm>
          <a:prstGeom prst="roundRect">
            <a:avLst/>
          </a:prstGeom>
          <a:solidFill>
            <a:srgbClr val="FFFFFF"/>
          </a:solidFill>
          <a:ln>
            <a:solidFill>
              <a:srgbClr val="CAD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9224" y="1243584"/>
            <a:ext cx="862737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566576"/>
                </a:solidFill>
                <a:latin typeface="Aptos"/>
              </a:defRPr>
            </a:pPr>
            <a:r>
              <a:rPr sz="1000" dirty="0"/>
              <a:t>SQL QUERY</a:t>
            </a:r>
          </a:p>
        </p:txBody>
      </p:sp>
      <p:pic>
        <p:nvPicPr>
          <p:cNvPr id="8" name="Picture 7" descr="25_total_transa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4642" y="1499616"/>
            <a:ext cx="4728835" cy="1179576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02920" y="2944368"/>
            <a:ext cx="6812280" cy="2788920"/>
          </a:xfrm>
          <a:prstGeom prst="roundRect">
            <a:avLst/>
          </a:prstGeom>
          <a:solidFill>
            <a:srgbClr val="FFFFFF"/>
          </a:solidFill>
          <a:ln>
            <a:solidFill>
              <a:srgbClr val="CAD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9224" y="2999232"/>
            <a:ext cx="1385316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566576"/>
                </a:solidFill>
                <a:latin typeface="Aptos"/>
              </a:defRPr>
            </a:pPr>
            <a:r>
              <a:rPr sz="1000" dirty="0"/>
              <a:t>EXECUTION OUTPUT</a:t>
            </a:r>
          </a:p>
        </p:txBody>
      </p:sp>
      <p:pic>
        <p:nvPicPr>
          <p:cNvPr id="11" name="Picture 10" descr="26_outpute_total_transac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29893" y="3255264"/>
            <a:ext cx="2558333" cy="2395727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7589520" y="1188720"/>
            <a:ext cx="4069080" cy="1572768"/>
          </a:xfrm>
          <a:prstGeom prst="roundRect">
            <a:avLst/>
          </a:prstGeom>
          <a:solidFill>
            <a:srgbClr val="F4F7FA"/>
          </a:solidFill>
          <a:ln>
            <a:solidFill>
              <a:srgbClr val="CAD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7589520" y="1188720"/>
            <a:ext cx="50292" cy="1572768"/>
          </a:xfrm>
          <a:prstGeom prst="rect">
            <a:avLst/>
          </a:prstGeom>
          <a:solidFill>
            <a:srgbClr val="29AA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790688" y="1298448"/>
            <a:ext cx="37490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50" b="1">
                <a:solidFill>
                  <a:srgbClr val="19283A"/>
                </a:solidFill>
                <a:latin typeface="Aptos Display"/>
              </a:defRPr>
            </a:pPr>
            <a:r>
              <a:t>What the query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90688" y="1673352"/>
            <a:ext cx="3749040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566576"/>
                </a:solidFill>
                <a:latin typeface="Aptos"/>
              </a:defRPr>
            </a:pPr>
            <a:r>
              <a:t>Counts transaction rows for each customer after joining the related tables.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589520" y="2971800"/>
            <a:ext cx="4069080" cy="1572768"/>
          </a:xfrm>
          <a:prstGeom prst="roundRect">
            <a:avLst/>
          </a:prstGeom>
          <a:solidFill>
            <a:srgbClr val="F4F7FA"/>
          </a:solidFill>
          <a:ln>
            <a:solidFill>
              <a:srgbClr val="CAD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589520" y="2971800"/>
            <a:ext cx="50292" cy="1572768"/>
          </a:xfrm>
          <a:prstGeom prst="rect">
            <a:avLst/>
          </a:prstGeom>
          <a:solidFill>
            <a:srgbClr val="30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790688" y="3081528"/>
            <a:ext cx="37490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50" b="1">
                <a:solidFill>
                  <a:srgbClr val="19283A"/>
                </a:solidFill>
                <a:latin typeface="Aptos Display"/>
              </a:defRPr>
            </a:pPr>
            <a:r>
              <a:t>Why it matters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90688" y="3456432"/>
            <a:ext cx="374904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566576"/>
                </a:solidFill>
                <a:latin typeface="Aptos"/>
              </a:defRPr>
            </a:pPr>
            <a:r>
              <a:t>Measures customer activity level.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589520" y="4754880"/>
            <a:ext cx="4069080" cy="978408"/>
          </a:xfrm>
          <a:prstGeom prst="roundRect">
            <a:avLst/>
          </a:prstGeom>
          <a:solidFill>
            <a:srgbClr val="F4F7FA"/>
          </a:solidFill>
          <a:ln>
            <a:solidFill>
              <a:srgbClr val="CAD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7589520" y="4754880"/>
            <a:ext cx="50292" cy="978408"/>
          </a:xfrm>
          <a:prstGeom prst="rect">
            <a:avLst/>
          </a:prstGeom>
          <a:solidFill>
            <a:srgbClr val="E28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790688" y="4864608"/>
            <a:ext cx="37490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50" b="1">
                <a:solidFill>
                  <a:srgbClr val="19283A"/>
                </a:solidFill>
                <a:latin typeface="Aptos Display"/>
              </a:defRPr>
            </a:pPr>
            <a:r>
              <a:t>SQL technique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90688" y="5239512"/>
            <a:ext cx="3749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566576"/>
                </a:solidFill>
                <a:latin typeface="Aptos"/>
              </a:defRPr>
            </a:pPr>
            <a:r>
              <a:t>COUNT + GROUP BY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9AA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30352" y="274320"/>
            <a:ext cx="96926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9283A"/>
                </a:solidFill>
                <a:latin typeface="Aptos Display"/>
              </a:defRPr>
            </a:pPr>
            <a:r>
              <a:t>15. RANK() — Customers by Balance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86384"/>
            <a:ext cx="9601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566576"/>
                </a:solidFill>
                <a:latin typeface="Aptos"/>
              </a:defRPr>
            </a:pPr>
            <a:r>
              <a:t>Query + execution result • sequence from the submitted screenshots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66960" y="347472"/>
            <a:ext cx="1645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29AABE"/>
                </a:solidFill>
                <a:latin typeface="Aptos"/>
              </a:defRPr>
            </a:pPr>
            <a:r>
              <a:t>SQL ANALYSIS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188720"/>
            <a:ext cx="6812280" cy="1572768"/>
          </a:xfrm>
          <a:prstGeom prst="roundRect">
            <a:avLst/>
          </a:prstGeom>
          <a:solidFill>
            <a:srgbClr val="FFFFFF"/>
          </a:solidFill>
          <a:ln>
            <a:solidFill>
              <a:srgbClr val="CAD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9224" y="1243584"/>
            <a:ext cx="862737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566576"/>
                </a:solidFill>
                <a:latin typeface="Aptos"/>
              </a:defRPr>
            </a:pPr>
            <a:r>
              <a:rPr sz="1000" dirty="0"/>
              <a:t>SQL QUERY</a:t>
            </a:r>
          </a:p>
        </p:txBody>
      </p:sp>
      <p:pic>
        <p:nvPicPr>
          <p:cNvPr id="8" name="Picture 7" descr="27_balance_ran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9056" y="1499616"/>
            <a:ext cx="5760007" cy="1179576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02920" y="2944368"/>
            <a:ext cx="6812280" cy="2788920"/>
          </a:xfrm>
          <a:prstGeom prst="roundRect">
            <a:avLst/>
          </a:prstGeom>
          <a:solidFill>
            <a:srgbClr val="FFFFFF"/>
          </a:solidFill>
          <a:ln>
            <a:solidFill>
              <a:srgbClr val="CAD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9224" y="2999232"/>
            <a:ext cx="1385316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566576"/>
                </a:solidFill>
                <a:latin typeface="Aptos"/>
              </a:defRPr>
            </a:pPr>
            <a:r>
              <a:rPr sz="1000" dirty="0"/>
              <a:t>EXECUTION OUTPUT</a:t>
            </a:r>
          </a:p>
        </p:txBody>
      </p:sp>
      <p:pic>
        <p:nvPicPr>
          <p:cNvPr id="11" name="Picture 10" descr="28_outpute_balance_ran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38530" y="3255264"/>
            <a:ext cx="2741058" cy="2395727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7589520" y="1188720"/>
            <a:ext cx="4069080" cy="1572768"/>
          </a:xfrm>
          <a:prstGeom prst="roundRect">
            <a:avLst/>
          </a:prstGeom>
          <a:solidFill>
            <a:srgbClr val="F4F7FA"/>
          </a:solidFill>
          <a:ln>
            <a:solidFill>
              <a:srgbClr val="CAD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7589520" y="1188720"/>
            <a:ext cx="50292" cy="1572768"/>
          </a:xfrm>
          <a:prstGeom prst="rect">
            <a:avLst/>
          </a:prstGeom>
          <a:solidFill>
            <a:srgbClr val="29AA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790688" y="1298448"/>
            <a:ext cx="37490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50" b="1">
                <a:solidFill>
                  <a:srgbClr val="19283A"/>
                </a:solidFill>
                <a:latin typeface="Aptos Display"/>
              </a:defRPr>
            </a:pPr>
            <a:r>
              <a:t>What the query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90688" y="1673352"/>
            <a:ext cx="3749040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566576"/>
                </a:solidFill>
                <a:latin typeface="Aptos"/>
              </a:defRPr>
            </a:pPr>
            <a:r>
              <a:t>Assigns balance positions using RANK() OVER(ORDER BY Balance DESC).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589520" y="2971800"/>
            <a:ext cx="4069080" cy="1572768"/>
          </a:xfrm>
          <a:prstGeom prst="roundRect">
            <a:avLst/>
          </a:prstGeom>
          <a:solidFill>
            <a:srgbClr val="F4F7FA"/>
          </a:solidFill>
          <a:ln>
            <a:solidFill>
              <a:srgbClr val="CAD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589520" y="2971800"/>
            <a:ext cx="50292" cy="1572768"/>
          </a:xfrm>
          <a:prstGeom prst="rect">
            <a:avLst/>
          </a:prstGeom>
          <a:solidFill>
            <a:srgbClr val="30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790688" y="3081528"/>
            <a:ext cx="37490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50" b="1">
                <a:solidFill>
                  <a:srgbClr val="19283A"/>
                </a:solidFill>
                <a:latin typeface="Aptos Display"/>
              </a:defRPr>
            </a:pPr>
            <a:r>
              <a:t>Why it matters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90688" y="3456432"/>
            <a:ext cx="374904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566576"/>
                </a:solidFill>
                <a:latin typeface="Aptos"/>
              </a:defRPr>
            </a:pPr>
            <a:r>
              <a:t>RANK() leaves gaps when two rows share the same rank.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589520" y="4754880"/>
            <a:ext cx="4069080" cy="978408"/>
          </a:xfrm>
          <a:prstGeom prst="roundRect">
            <a:avLst/>
          </a:prstGeom>
          <a:solidFill>
            <a:srgbClr val="F4F7FA"/>
          </a:solidFill>
          <a:ln>
            <a:solidFill>
              <a:srgbClr val="CAD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7589520" y="4754880"/>
            <a:ext cx="50292" cy="978408"/>
          </a:xfrm>
          <a:prstGeom prst="rect">
            <a:avLst/>
          </a:prstGeom>
          <a:solidFill>
            <a:srgbClr val="E28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790688" y="4864608"/>
            <a:ext cx="37490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50" b="1">
                <a:solidFill>
                  <a:srgbClr val="19283A"/>
                </a:solidFill>
                <a:latin typeface="Aptos Display"/>
              </a:defRPr>
            </a:pPr>
            <a:r>
              <a:t>SQL technique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90688" y="5239512"/>
            <a:ext cx="3749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566576"/>
                </a:solidFill>
                <a:latin typeface="Aptos"/>
              </a:defRPr>
            </a:pPr>
            <a:r>
              <a:t>WINDOW FUNCTION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9AA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30352" y="274320"/>
            <a:ext cx="96926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9283A"/>
                </a:solidFill>
                <a:latin typeface="Aptos Display"/>
              </a:defRPr>
            </a:pPr>
            <a:r>
              <a:t>16. DENSE_RANK() — Customers by Balance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86384"/>
            <a:ext cx="9601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566576"/>
                </a:solidFill>
                <a:latin typeface="Aptos"/>
              </a:defRPr>
            </a:pPr>
            <a:r>
              <a:t>Query + execution result • sequence from the submitted screenshots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66960" y="347472"/>
            <a:ext cx="1645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29AABE"/>
                </a:solidFill>
                <a:latin typeface="Aptos"/>
              </a:defRPr>
            </a:pPr>
            <a:r>
              <a:t>SQL ANALYSIS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188720"/>
            <a:ext cx="6812280" cy="1572768"/>
          </a:xfrm>
          <a:prstGeom prst="roundRect">
            <a:avLst/>
          </a:prstGeom>
          <a:solidFill>
            <a:srgbClr val="FFFFFF"/>
          </a:solidFill>
          <a:ln>
            <a:solidFill>
              <a:srgbClr val="CAD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9224" y="1243584"/>
            <a:ext cx="862737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566576"/>
                </a:solidFill>
                <a:latin typeface="Aptos"/>
              </a:defRPr>
            </a:pPr>
            <a:r>
              <a:rPr sz="1000" dirty="0"/>
              <a:t>SQL QUERY</a:t>
            </a:r>
          </a:p>
        </p:txBody>
      </p:sp>
      <p:pic>
        <p:nvPicPr>
          <p:cNvPr id="8" name="Picture 7" descr="29_dense_ran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" y="1561111"/>
            <a:ext cx="6556247" cy="1056585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02920" y="2944368"/>
            <a:ext cx="6812280" cy="2788920"/>
          </a:xfrm>
          <a:prstGeom prst="roundRect">
            <a:avLst/>
          </a:prstGeom>
          <a:solidFill>
            <a:srgbClr val="FFFFFF"/>
          </a:solidFill>
          <a:ln>
            <a:solidFill>
              <a:srgbClr val="CAD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9224" y="2999232"/>
            <a:ext cx="1385316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566576"/>
                </a:solidFill>
                <a:latin typeface="Aptos"/>
              </a:defRPr>
            </a:pPr>
            <a:r>
              <a:rPr sz="1000" dirty="0"/>
              <a:t>EXECUTION OUTPUT</a:t>
            </a:r>
          </a:p>
        </p:txBody>
      </p:sp>
      <p:pic>
        <p:nvPicPr>
          <p:cNvPr id="11" name="Picture 10" descr="30_outpute_danse_ran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8097" y="3255264"/>
            <a:ext cx="3241925" cy="2395727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7589520" y="1188720"/>
            <a:ext cx="4069080" cy="1572768"/>
          </a:xfrm>
          <a:prstGeom prst="roundRect">
            <a:avLst/>
          </a:prstGeom>
          <a:solidFill>
            <a:srgbClr val="F4F7FA"/>
          </a:solidFill>
          <a:ln>
            <a:solidFill>
              <a:srgbClr val="CAD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7589520" y="1188720"/>
            <a:ext cx="50292" cy="1572768"/>
          </a:xfrm>
          <a:prstGeom prst="rect">
            <a:avLst/>
          </a:prstGeom>
          <a:solidFill>
            <a:srgbClr val="29AA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790688" y="1298448"/>
            <a:ext cx="37490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50" b="1">
                <a:solidFill>
                  <a:srgbClr val="19283A"/>
                </a:solidFill>
                <a:latin typeface="Aptos Display"/>
              </a:defRPr>
            </a:pPr>
            <a:r>
              <a:t>What the query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90688" y="1673352"/>
            <a:ext cx="3613912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566576"/>
                </a:solidFill>
                <a:latin typeface="Aptos"/>
              </a:defRPr>
            </a:pPr>
            <a:r>
              <a:t>Assigns balance positions using DENSE_RANK() OVER(ORDER BY Balance DESC).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589520" y="2971800"/>
            <a:ext cx="4069080" cy="1572768"/>
          </a:xfrm>
          <a:prstGeom prst="roundRect">
            <a:avLst/>
          </a:prstGeom>
          <a:solidFill>
            <a:srgbClr val="F4F7FA"/>
          </a:solidFill>
          <a:ln>
            <a:solidFill>
              <a:srgbClr val="CAD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589520" y="2971800"/>
            <a:ext cx="50292" cy="1572768"/>
          </a:xfrm>
          <a:prstGeom prst="rect">
            <a:avLst/>
          </a:prstGeom>
          <a:solidFill>
            <a:srgbClr val="30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790688" y="3081528"/>
            <a:ext cx="37490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50" b="1">
                <a:solidFill>
                  <a:srgbClr val="19283A"/>
                </a:solidFill>
                <a:latin typeface="Aptos Display"/>
              </a:defRPr>
            </a:pPr>
            <a:r>
              <a:t>Why it matters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90688" y="3456432"/>
            <a:ext cx="374904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566576"/>
                </a:solidFill>
                <a:latin typeface="Aptos"/>
              </a:defRPr>
            </a:pPr>
            <a:r>
              <a:t>DENSE_RANK() does not leave gaps after ties.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589520" y="4754880"/>
            <a:ext cx="4069080" cy="978408"/>
          </a:xfrm>
          <a:prstGeom prst="roundRect">
            <a:avLst/>
          </a:prstGeom>
          <a:solidFill>
            <a:srgbClr val="F4F7FA"/>
          </a:solidFill>
          <a:ln>
            <a:solidFill>
              <a:srgbClr val="CAD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7589520" y="4754880"/>
            <a:ext cx="50292" cy="978408"/>
          </a:xfrm>
          <a:prstGeom prst="rect">
            <a:avLst/>
          </a:prstGeom>
          <a:solidFill>
            <a:srgbClr val="E28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790688" y="4864608"/>
            <a:ext cx="37490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50" b="1">
                <a:solidFill>
                  <a:srgbClr val="19283A"/>
                </a:solidFill>
                <a:latin typeface="Aptos Display"/>
              </a:defRPr>
            </a:pPr>
            <a:r>
              <a:t>SQL technique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90688" y="5239512"/>
            <a:ext cx="3749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566576"/>
                </a:solidFill>
                <a:latin typeface="Aptos"/>
              </a:defRPr>
            </a:pPr>
            <a:r>
              <a:t>WINDOW FUNCTION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9AA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30352" y="274320"/>
            <a:ext cx="96926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9283A"/>
                </a:solidFill>
                <a:latin typeface="Aptos Display"/>
              </a:defRPr>
            </a:pPr>
            <a:r>
              <a:t>17. LAG() — Previous Transaction Amount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86384"/>
            <a:ext cx="9601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566576"/>
                </a:solidFill>
                <a:latin typeface="Aptos"/>
              </a:defRPr>
            </a:pPr>
            <a:r>
              <a:t>Query + execution result • sequence from the submitted screenshots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66960" y="347472"/>
            <a:ext cx="1645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29AABE"/>
                </a:solidFill>
                <a:latin typeface="Aptos"/>
              </a:defRPr>
            </a:pPr>
            <a:r>
              <a:t>SQL ANALYSIS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188720"/>
            <a:ext cx="6812280" cy="1572768"/>
          </a:xfrm>
          <a:prstGeom prst="roundRect">
            <a:avLst/>
          </a:prstGeom>
          <a:solidFill>
            <a:srgbClr val="FFFFFF"/>
          </a:solidFill>
          <a:ln>
            <a:solidFill>
              <a:srgbClr val="CAD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9224" y="1243584"/>
            <a:ext cx="862737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566576"/>
                </a:solidFill>
                <a:latin typeface="Aptos"/>
              </a:defRPr>
            </a:pPr>
            <a:r>
              <a:rPr sz="1000" dirty="0"/>
              <a:t>SQL QUERY</a:t>
            </a:r>
          </a:p>
        </p:txBody>
      </p:sp>
      <p:pic>
        <p:nvPicPr>
          <p:cNvPr id="8" name="Picture 7" descr="31_previous_rank_lag_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2602" y="1499616"/>
            <a:ext cx="6312916" cy="1179576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02920" y="2944368"/>
            <a:ext cx="6812280" cy="2788920"/>
          </a:xfrm>
          <a:prstGeom prst="roundRect">
            <a:avLst/>
          </a:prstGeom>
          <a:solidFill>
            <a:srgbClr val="FFFFFF"/>
          </a:solidFill>
          <a:ln>
            <a:solidFill>
              <a:srgbClr val="CAD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9224" y="2999232"/>
            <a:ext cx="1385316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566576"/>
                </a:solidFill>
                <a:latin typeface="Aptos"/>
              </a:defRPr>
            </a:pPr>
            <a:r>
              <a:rPr sz="1000" dirty="0"/>
              <a:t>EXECUTION OUTPUT</a:t>
            </a:r>
          </a:p>
        </p:txBody>
      </p:sp>
      <p:pic>
        <p:nvPicPr>
          <p:cNvPr id="11" name="Picture 10" descr="32_outpute_previous_rank_lag_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20453" y="3255264"/>
            <a:ext cx="2777213" cy="2395727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7589520" y="1188720"/>
            <a:ext cx="4069080" cy="1572768"/>
          </a:xfrm>
          <a:prstGeom prst="roundRect">
            <a:avLst/>
          </a:prstGeom>
          <a:solidFill>
            <a:srgbClr val="F4F7FA"/>
          </a:solidFill>
          <a:ln>
            <a:solidFill>
              <a:srgbClr val="CAD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7589520" y="1188720"/>
            <a:ext cx="50292" cy="1572768"/>
          </a:xfrm>
          <a:prstGeom prst="rect">
            <a:avLst/>
          </a:prstGeom>
          <a:solidFill>
            <a:srgbClr val="29AA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790688" y="1298448"/>
            <a:ext cx="37490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50" b="1">
                <a:solidFill>
                  <a:srgbClr val="19283A"/>
                </a:solidFill>
                <a:latin typeface="Aptos Display"/>
              </a:defRPr>
            </a:pPr>
            <a:r>
              <a:t>What the query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90688" y="1673352"/>
            <a:ext cx="3648710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566576"/>
                </a:solidFill>
                <a:latin typeface="Aptos"/>
              </a:defRPr>
            </a:pPr>
            <a:r>
              <a:t>Uses LAG() to access the previous transaction amount in the chosen order.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589520" y="2971800"/>
            <a:ext cx="4069080" cy="1572768"/>
          </a:xfrm>
          <a:prstGeom prst="roundRect">
            <a:avLst/>
          </a:prstGeom>
          <a:solidFill>
            <a:srgbClr val="F4F7FA"/>
          </a:solidFill>
          <a:ln>
            <a:solidFill>
              <a:srgbClr val="CAD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589520" y="2971800"/>
            <a:ext cx="50292" cy="1572768"/>
          </a:xfrm>
          <a:prstGeom prst="rect">
            <a:avLst/>
          </a:prstGeom>
          <a:solidFill>
            <a:srgbClr val="30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790688" y="3081528"/>
            <a:ext cx="37490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50" b="1">
                <a:solidFill>
                  <a:srgbClr val="19283A"/>
                </a:solidFill>
                <a:latin typeface="Aptos Display"/>
              </a:defRPr>
            </a:pPr>
            <a:r>
              <a:t>Why it matters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90688" y="3456432"/>
            <a:ext cx="374904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566576"/>
                </a:solidFill>
                <a:latin typeface="Aptos"/>
              </a:defRPr>
            </a:pPr>
            <a:r>
              <a:t>Enables row-to-row comparisons and trend analysis.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589520" y="4754880"/>
            <a:ext cx="4069080" cy="978408"/>
          </a:xfrm>
          <a:prstGeom prst="roundRect">
            <a:avLst/>
          </a:prstGeom>
          <a:solidFill>
            <a:srgbClr val="F4F7FA"/>
          </a:solidFill>
          <a:ln>
            <a:solidFill>
              <a:srgbClr val="CAD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7589520" y="4754880"/>
            <a:ext cx="50292" cy="978408"/>
          </a:xfrm>
          <a:prstGeom prst="rect">
            <a:avLst/>
          </a:prstGeom>
          <a:solidFill>
            <a:srgbClr val="E28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790688" y="4864608"/>
            <a:ext cx="37490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50" b="1">
                <a:solidFill>
                  <a:srgbClr val="19283A"/>
                </a:solidFill>
                <a:latin typeface="Aptos Display"/>
              </a:defRPr>
            </a:pPr>
            <a:r>
              <a:t>SQL technique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90688" y="5239512"/>
            <a:ext cx="3749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566576"/>
                </a:solidFill>
                <a:latin typeface="Aptos"/>
              </a:defRPr>
            </a:pPr>
            <a:r>
              <a:t>WINDOW FUNCTION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9AA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30352" y="274320"/>
            <a:ext cx="96926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9283A"/>
                </a:solidFill>
                <a:latin typeface="Aptos Display"/>
              </a:defRPr>
            </a:pPr>
            <a:r>
              <a:t>18. LEAD() — Next Transaction Amount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86384"/>
            <a:ext cx="9601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566576"/>
                </a:solidFill>
                <a:latin typeface="Aptos"/>
              </a:defRPr>
            </a:pPr>
            <a:r>
              <a:t>Query + execution result • sequence from the submitted screenshots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66960" y="347472"/>
            <a:ext cx="1645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29AABE"/>
                </a:solidFill>
                <a:latin typeface="Aptos"/>
              </a:defRPr>
            </a:pPr>
            <a:r>
              <a:t>SQL ANALYSIS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188720"/>
            <a:ext cx="6812280" cy="1572768"/>
          </a:xfrm>
          <a:prstGeom prst="roundRect">
            <a:avLst/>
          </a:prstGeom>
          <a:solidFill>
            <a:srgbClr val="FFFFFF"/>
          </a:solidFill>
          <a:ln>
            <a:solidFill>
              <a:srgbClr val="CAD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9224" y="1243584"/>
            <a:ext cx="862737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566576"/>
                </a:solidFill>
                <a:latin typeface="Aptos"/>
              </a:defRPr>
            </a:pPr>
            <a:r>
              <a:rPr sz="1000" dirty="0"/>
              <a:t>SQL QUERY</a:t>
            </a:r>
          </a:p>
        </p:txBody>
      </p:sp>
      <p:pic>
        <p:nvPicPr>
          <p:cNvPr id="8" name="Picture 7" descr="33_next_amount_lead_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9770" y="1499616"/>
            <a:ext cx="5298579" cy="1179576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02920" y="2944368"/>
            <a:ext cx="6812280" cy="2788920"/>
          </a:xfrm>
          <a:prstGeom prst="roundRect">
            <a:avLst/>
          </a:prstGeom>
          <a:solidFill>
            <a:srgbClr val="FFFFFF"/>
          </a:solidFill>
          <a:ln>
            <a:solidFill>
              <a:srgbClr val="CAD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9224" y="2999232"/>
            <a:ext cx="1385316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566576"/>
                </a:solidFill>
                <a:latin typeface="Aptos"/>
              </a:defRPr>
            </a:pPr>
            <a:r>
              <a:rPr sz="1000" dirty="0"/>
              <a:t>EXECUTION OUTPUT</a:t>
            </a:r>
          </a:p>
        </p:txBody>
      </p:sp>
      <p:pic>
        <p:nvPicPr>
          <p:cNvPr id="11" name="Picture 10" descr="34_outpute_next_amount_lead_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19347" y="3255264"/>
            <a:ext cx="2579425" cy="2395727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7589520" y="1188720"/>
            <a:ext cx="4069080" cy="1572768"/>
          </a:xfrm>
          <a:prstGeom prst="roundRect">
            <a:avLst/>
          </a:prstGeom>
          <a:solidFill>
            <a:srgbClr val="F4F7FA"/>
          </a:solidFill>
          <a:ln>
            <a:solidFill>
              <a:srgbClr val="CAD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7589520" y="1188720"/>
            <a:ext cx="50292" cy="1572768"/>
          </a:xfrm>
          <a:prstGeom prst="rect">
            <a:avLst/>
          </a:prstGeom>
          <a:solidFill>
            <a:srgbClr val="29AA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790688" y="1298448"/>
            <a:ext cx="37490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50" b="1">
                <a:solidFill>
                  <a:srgbClr val="19283A"/>
                </a:solidFill>
                <a:latin typeface="Aptos Display"/>
              </a:defRPr>
            </a:pPr>
            <a:r>
              <a:t>What the query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90688" y="1673352"/>
            <a:ext cx="374904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566576"/>
                </a:solidFill>
                <a:latin typeface="Aptos"/>
              </a:defRPr>
            </a:pPr>
            <a:r>
              <a:t>Uses LEAD() to access the next transaction amount.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589520" y="2971800"/>
            <a:ext cx="4069080" cy="1572768"/>
          </a:xfrm>
          <a:prstGeom prst="roundRect">
            <a:avLst/>
          </a:prstGeom>
          <a:solidFill>
            <a:srgbClr val="F4F7FA"/>
          </a:solidFill>
          <a:ln>
            <a:solidFill>
              <a:srgbClr val="CAD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589520" y="2971800"/>
            <a:ext cx="50292" cy="1572768"/>
          </a:xfrm>
          <a:prstGeom prst="rect">
            <a:avLst/>
          </a:prstGeom>
          <a:solidFill>
            <a:srgbClr val="30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790688" y="3081528"/>
            <a:ext cx="37490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50" b="1">
                <a:solidFill>
                  <a:srgbClr val="19283A"/>
                </a:solidFill>
                <a:latin typeface="Aptos Display"/>
              </a:defRPr>
            </a:pPr>
            <a:r>
              <a:t>Why it matters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90688" y="3456432"/>
            <a:ext cx="374904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566576"/>
                </a:solidFill>
                <a:latin typeface="Aptos"/>
              </a:defRPr>
            </a:pPr>
            <a:r>
              <a:t>Useful for forward-looking comparisons.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589520" y="4754880"/>
            <a:ext cx="4069080" cy="978408"/>
          </a:xfrm>
          <a:prstGeom prst="roundRect">
            <a:avLst/>
          </a:prstGeom>
          <a:solidFill>
            <a:srgbClr val="F4F7FA"/>
          </a:solidFill>
          <a:ln>
            <a:solidFill>
              <a:srgbClr val="CAD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7589520" y="4754880"/>
            <a:ext cx="50292" cy="978408"/>
          </a:xfrm>
          <a:prstGeom prst="rect">
            <a:avLst/>
          </a:prstGeom>
          <a:solidFill>
            <a:srgbClr val="E28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790688" y="4864608"/>
            <a:ext cx="37490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50" b="1">
                <a:solidFill>
                  <a:srgbClr val="19283A"/>
                </a:solidFill>
                <a:latin typeface="Aptos Display"/>
              </a:defRPr>
            </a:pPr>
            <a:r>
              <a:t>SQL technique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90688" y="5239512"/>
            <a:ext cx="3749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566576"/>
                </a:solidFill>
                <a:latin typeface="Aptos"/>
              </a:defRPr>
            </a:pPr>
            <a:r>
              <a:t>WINDOW FUNCTION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9AA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30352" y="274320"/>
            <a:ext cx="96926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9283A"/>
                </a:solidFill>
                <a:latin typeface="Aptos Display"/>
              </a:defRPr>
            </a:pPr>
            <a:r>
              <a:t>19. Running Total with SUM() OVER()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86384"/>
            <a:ext cx="9601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566576"/>
                </a:solidFill>
                <a:latin typeface="Aptos"/>
              </a:defRPr>
            </a:pPr>
            <a:r>
              <a:t>Query + execution result • sequence from the submitted screenshots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66960" y="347472"/>
            <a:ext cx="1645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29AABE"/>
                </a:solidFill>
                <a:latin typeface="Aptos"/>
              </a:defRPr>
            </a:pPr>
            <a:r>
              <a:t>SQL ANALYSIS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188720"/>
            <a:ext cx="6812280" cy="1572768"/>
          </a:xfrm>
          <a:prstGeom prst="roundRect">
            <a:avLst/>
          </a:prstGeom>
          <a:solidFill>
            <a:srgbClr val="FFFFFF"/>
          </a:solidFill>
          <a:ln>
            <a:solidFill>
              <a:srgbClr val="CAD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9224" y="1243584"/>
            <a:ext cx="862737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566576"/>
                </a:solidFill>
                <a:latin typeface="Aptos"/>
              </a:defRPr>
            </a:pPr>
            <a:r>
              <a:rPr sz="1000" dirty="0"/>
              <a:t>SQL QUERY</a:t>
            </a:r>
          </a:p>
        </p:txBody>
      </p:sp>
      <p:pic>
        <p:nvPicPr>
          <p:cNvPr id="8" name="Picture 7" descr="35_sum_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3972" y="1499616"/>
            <a:ext cx="5370174" cy="1179576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02920" y="2944368"/>
            <a:ext cx="6812280" cy="2788920"/>
          </a:xfrm>
          <a:prstGeom prst="roundRect">
            <a:avLst/>
          </a:prstGeom>
          <a:solidFill>
            <a:srgbClr val="FFFFFF"/>
          </a:solidFill>
          <a:ln>
            <a:solidFill>
              <a:srgbClr val="CAD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9224" y="2999232"/>
            <a:ext cx="1385316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566576"/>
                </a:solidFill>
                <a:latin typeface="Aptos"/>
              </a:defRPr>
            </a:pPr>
            <a:r>
              <a:rPr sz="1000" dirty="0"/>
              <a:t>EXECUTION OUTPUT</a:t>
            </a:r>
          </a:p>
        </p:txBody>
      </p:sp>
      <p:pic>
        <p:nvPicPr>
          <p:cNvPr id="11" name="Picture 10" descr="36_outpute_sum_ov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03517" y="3255264"/>
            <a:ext cx="2411085" cy="2395727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7589520" y="1188720"/>
            <a:ext cx="4069080" cy="1572768"/>
          </a:xfrm>
          <a:prstGeom prst="roundRect">
            <a:avLst/>
          </a:prstGeom>
          <a:solidFill>
            <a:srgbClr val="F4F7FA"/>
          </a:solidFill>
          <a:ln>
            <a:solidFill>
              <a:srgbClr val="CAD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7589520" y="1188720"/>
            <a:ext cx="50292" cy="1572768"/>
          </a:xfrm>
          <a:prstGeom prst="rect">
            <a:avLst/>
          </a:prstGeom>
          <a:solidFill>
            <a:srgbClr val="29AA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790688" y="1298448"/>
            <a:ext cx="37490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50" b="1">
                <a:solidFill>
                  <a:srgbClr val="19283A"/>
                </a:solidFill>
                <a:latin typeface="Aptos Display"/>
              </a:defRPr>
            </a:pPr>
            <a:r>
              <a:t>What the query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90688" y="1673352"/>
            <a:ext cx="3648456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566576"/>
                </a:solidFill>
                <a:latin typeface="Aptos"/>
              </a:defRPr>
            </a:pPr>
            <a:r>
              <a:t>Creates a cumulative transaction total while keeping each row visible.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589520" y="2971800"/>
            <a:ext cx="4069080" cy="1572768"/>
          </a:xfrm>
          <a:prstGeom prst="roundRect">
            <a:avLst/>
          </a:prstGeom>
          <a:solidFill>
            <a:srgbClr val="F4F7FA"/>
          </a:solidFill>
          <a:ln>
            <a:solidFill>
              <a:srgbClr val="CAD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589520" y="2971800"/>
            <a:ext cx="50292" cy="1572768"/>
          </a:xfrm>
          <a:prstGeom prst="rect">
            <a:avLst/>
          </a:prstGeom>
          <a:solidFill>
            <a:srgbClr val="30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790688" y="3081528"/>
            <a:ext cx="37490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50" b="1">
                <a:solidFill>
                  <a:srgbClr val="19283A"/>
                </a:solidFill>
                <a:latin typeface="Aptos Display"/>
              </a:defRPr>
            </a:pPr>
            <a:r>
              <a:t>Why it matters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90688" y="3456432"/>
            <a:ext cx="374904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566576"/>
                </a:solidFill>
                <a:latin typeface="Aptos"/>
              </a:defRPr>
            </a:pPr>
            <a:r>
              <a:t>Demonstrates windowed aggregation.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589520" y="4754880"/>
            <a:ext cx="4069080" cy="978408"/>
          </a:xfrm>
          <a:prstGeom prst="roundRect">
            <a:avLst/>
          </a:prstGeom>
          <a:solidFill>
            <a:srgbClr val="F4F7FA"/>
          </a:solidFill>
          <a:ln>
            <a:solidFill>
              <a:srgbClr val="CAD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7589520" y="4754880"/>
            <a:ext cx="50292" cy="978408"/>
          </a:xfrm>
          <a:prstGeom prst="rect">
            <a:avLst/>
          </a:prstGeom>
          <a:solidFill>
            <a:srgbClr val="E28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790688" y="4864608"/>
            <a:ext cx="37490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50" b="1">
                <a:solidFill>
                  <a:srgbClr val="19283A"/>
                </a:solidFill>
                <a:latin typeface="Aptos Display"/>
              </a:defRPr>
            </a:pPr>
            <a:r>
              <a:t>SQL technique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90688" y="5239512"/>
            <a:ext cx="3749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566576"/>
                </a:solidFill>
                <a:latin typeface="Aptos"/>
              </a:defRPr>
            </a:pPr>
            <a:r>
              <a:t>WINDOW FUNCTION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9AA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30352" y="274320"/>
            <a:ext cx="96926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9283A"/>
                </a:solidFill>
                <a:latin typeface="Aptos Display"/>
              </a:defRPr>
            </a:pPr>
            <a:r>
              <a:t>20A. Second Highest Balance — Subquery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86384"/>
            <a:ext cx="9601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566576"/>
                </a:solidFill>
                <a:latin typeface="Aptos"/>
              </a:defRPr>
            </a:pPr>
            <a:r>
              <a:t>Query + execution result • sequence from the submitted screenshots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66960" y="347472"/>
            <a:ext cx="1645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29AABE"/>
                </a:solidFill>
                <a:latin typeface="Aptos"/>
              </a:defRPr>
            </a:pPr>
            <a:r>
              <a:t>SQL ANALYSIS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188720"/>
            <a:ext cx="6812280" cy="1572768"/>
          </a:xfrm>
          <a:prstGeom prst="roundRect">
            <a:avLst/>
          </a:prstGeom>
          <a:solidFill>
            <a:srgbClr val="FFFFFF"/>
          </a:solidFill>
          <a:ln>
            <a:solidFill>
              <a:srgbClr val="CAD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9224" y="1243584"/>
            <a:ext cx="862737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566576"/>
                </a:solidFill>
                <a:latin typeface="Aptos"/>
              </a:defRPr>
            </a:pPr>
            <a:r>
              <a:rPr sz="1000" dirty="0"/>
              <a:t>SQL QUERY</a:t>
            </a:r>
          </a:p>
        </p:txBody>
      </p:sp>
      <p:pic>
        <p:nvPicPr>
          <p:cNvPr id="8" name="Picture 7" descr="37_second_high_using_subquery_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" y="1529218"/>
            <a:ext cx="6556247" cy="1120371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02920" y="2944368"/>
            <a:ext cx="6812280" cy="2788920"/>
          </a:xfrm>
          <a:prstGeom prst="roundRect">
            <a:avLst/>
          </a:prstGeom>
          <a:solidFill>
            <a:srgbClr val="FFFFFF"/>
          </a:solidFill>
          <a:ln>
            <a:solidFill>
              <a:srgbClr val="CAD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9224" y="2999232"/>
            <a:ext cx="1385316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566576"/>
                </a:solidFill>
                <a:latin typeface="Aptos"/>
              </a:defRPr>
            </a:pPr>
            <a:r>
              <a:rPr sz="1000" dirty="0"/>
              <a:t>EXECUTION OUTPUT</a:t>
            </a:r>
          </a:p>
        </p:txBody>
      </p:sp>
      <p:pic>
        <p:nvPicPr>
          <p:cNvPr id="11" name="Picture 10" descr="38_outpute_second_high_subquer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" y="3633597"/>
            <a:ext cx="6556248" cy="1639062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7589520" y="1188720"/>
            <a:ext cx="4069080" cy="1572768"/>
          </a:xfrm>
          <a:prstGeom prst="roundRect">
            <a:avLst/>
          </a:prstGeom>
          <a:solidFill>
            <a:srgbClr val="F4F7FA"/>
          </a:solidFill>
          <a:ln>
            <a:solidFill>
              <a:srgbClr val="CAD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7589520" y="1188720"/>
            <a:ext cx="50292" cy="1572768"/>
          </a:xfrm>
          <a:prstGeom prst="rect">
            <a:avLst/>
          </a:prstGeom>
          <a:solidFill>
            <a:srgbClr val="29AA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790688" y="1298448"/>
            <a:ext cx="37490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50" b="1">
                <a:solidFill>
                  <a:srgbClr val="19283A"/>
                </a:solidFill>
                <a:latin typeface="Aptos Display"/>
              </a:defRPr>
            </a:pPr>
            <a:r>
              <a:t>What the query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90688" y="1673352"/>
            <a:ext cx="3648456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566576"/>
                </a:solidFill>
                <a:latin typeface="Aptos"/>
              </a:defRPr>
            </a:pPr>
            <a:r>
              <a:t>Finds the highest balance below the overall maximum balance.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589520" y="2971800"/>
            <a:ext cx="4069080" cy="1572768"/>
          </a:xfrm>
          <a:prstGeom prst="roundRect">
            <a:avLst/>
          </a:prstGeom>
          <a:solidFill>
            <a:srgbClr val="F4F7FA"/>
          </a:solidFill>
          <a:ln>
            <a:solidFill>
              <a:srgbClr val="CAD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589520" y="2971800"/>
            <a:ext cx="50292" cy="1572768"/>
          </a:xfrm>
          <a:prstGeom prst="rect">
            <a:avLst/>
          </a:prstGeom>
          <a:solidFill>
            <a:srgbClr val="30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790688" y="3081528"/>
            <a:ext cx="37490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50" b="1">
                <a:solidFill>
                  <a:srgbClr val="19283A"/>
                </a:solidFill>
                <a:latin typeface="Aptos Display"/>
              </a:defRPr>
            </a:pPr>
            <a:r>
              <a:t>Why it matters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90688" y="3456432"/>
            <a:ext cx="3648456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566576"/>
                </a:solidFill>
                <a:latin typeface="Aptos"/>
              </a:defRPr>
            </a:pPr>
            <a:r>
              <a:t>A classic subquery approach for second-highest-value problems.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589520" y="4754880"/>
            <a:ext cx="4069080" cy="978408"/>
          </a:xfrm>
          <a:prstGeom prst="roundRect">
            <a:avLst/>
          </a:prstGeom>
          <a:solidFill>
            <a:srgbClr val="F4F7FA"/>
          </a:solidFill>
          <a:ln>
            <a:solidFill>
              <a:srgbClr val="CAD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7589520" y="4754880"/>
            <a:ext cx="50292" cy="978408"/>
          </a:xfrm>
          <a:prstGeom prst="rect">
            <a:avLst/>
          </a:prstGeom>
          <a:solidFill>
            <a:srgbClr val="E28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790688" y="4864608"/>
            <a:ext cx="37490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50" b="1">
                <a:solidFill>
                  <a:srgbClr val="19283A"/>
                </a:solidFill>
                <a:latin typeface="Aptos Display"/>
              </a:defRPr>
            </a:pPr>
            <a:r>
              <a:t>SQL technique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90688" y="5239512"/>
            <a:ext cx="3749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566576"/>
                </a:solidFill>
                <a:latin typeface="Aptos"/>
              </a:defRPr>
            </a:pPr>
            <a:r>
              <a:t>SUBQUERY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9AA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30352" y="274320"/>
            <a:ext cx="96926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9283A"/>
                </a:solidFill>
                <a:latin typeface="Aptos Display"/>
              </a:defRPr>
            </a:pPr>
            <a:r>
              <a:t>20B. Second Highest Balance — DENSE_RANK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86384"/>
            <a:ext cx="9601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566576"/>
                </a:solidFill>
                <a:latin typeface="Aptos"/>
              </a:defRPr>
            </a:pPr>
            <a:r>
              <a:t>Query + execution result • sequence from the submitted screenshots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66960" y="347472"/>
            <a:ext cx="1645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29AABE"/>
                </a:solidFill>
                <a:latin typeface="Aptos"/>
              </a:defRPr>
            </a:pPr>
            <a:r>
              <a:t>SQL ANALYSIS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188720"/>
            <a:ext cx="6812280" cy="1572768"/>
          </a:xfrm>
          <a:prstGeom prst="roundRect">
            <a:avLst/>
          </a:prstGeom>
          <a:solidFill>
            <a:srgbClr val="FFFFFF"/>
          </a:solidFill>
          <a:ln>
            <a:solidFill>
              <a:srgbClr val="CAD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9224" y="1243584"/>
            <a:ext cx="862737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566576"/>
                </a:solidFill>
                <a:latin typeface="Aptos"/>
              </a:defRPr>
            </a:pPr>
            <a:r>
              <a:rPr sz="1000" dirty="0"/>
              <a:t>SQL QUERY</a:t>
            </a:r>
          </a:p>
        </p:txBody>
      </p:sp>
      <p:pic>
        <p:nvPicPr>
          <p:cNvPr id="8" name="Picture 7" descr="39_secound_high_using_window_fun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3136" y="1499616"/>
            <a:ext cx="4931847" cy="1179576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02920" y="2944368"/>
            <a:ext cx="6812280" cy="2788920"/>
          </a:xfrm>
          <a:prstGeom prst="roundRect">
            <a:avLst/>
          </a:prstGeom>
          <a:solidFill>
            <a:srgbClr val="FFFFFF"/>
          </a:solidFill>
          <a:ln>
            <a:solidFill>
              <a:srgbClr val="CAD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9224" y="2999232"/>
            <a:ext cx="1385316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566576"/>
                </a:solidFill>
                <a:latin typeface="Aptos"/>
              </a:defRPr>
            </a:pPr>
            <a:r>
              <a:rPr sz="1000" dirty="0"/>
              <a:t>EXECUTION OUTPUT</a:t>
            </a:r>
          </a:p>
        </p:txBody>
      </p:sp>
      <p:pic>
        <p:nvPicPr>
          <p:cNvPr id="11" name="Picture 10" descr="40_outpute_second_high_using_window_func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" y="3906774"/>
            <a:ext cx="6556247" cy="1092707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7589520" y="1188720"/>
            <a:ext cx="4069080" cy="1572768"/>
          </a:xfrm>
          <a:prstGeom prst="roundRect">
            <a:avLst/>
          </a:prstGeom>
          <a:solidFill>
            <a:srgbClr val="F4F7FA"/>
          </a:solidFill>
          <a:ln>
            <a:solidFill>
              <a:srgbClr val="CAD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7589520" y="1188720"/>
            <a:ext cx="50292" cy="1572768"/>
          </a:xfrm>
          <a:prstGeom prst="rect">
            <a:avLst/>
          </a:prstGeom>
          <a:solidFill>
            <a:srgbClr val="29AA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790688" y="1298448"/>
            <a:ext cx="37490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50" b="1">
                <a:solidFill>
                  <a:srgbClr val="19283A"/>
                </a:solidFill>
                <a:latin typeface="Aptos Display"/>
              </a:defRPr>
            </a:pPr>
            <a:r>
              <a:t>What the query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90688" y="1673352"/>
            <a:ext cx="374904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566576"/>
                </a:solidFill>
                <a:latin typeface="Aptos"/>
              </a:defRPr>
            </a:pPr>
            <a:r>
              <a:t>Ranks balances and selects the row with DENSE_RANK() = 2.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589520" y="2971800"/>
            <a:ext cx="4069080" cy="1572768"/>
          </a:xfrm>
          <a:prstGeom prst="roundRect">
            <a:avLst/>
          </a:prstGeom>
          <a:solidFill>
            <a:srgbClr val="F4F7FA"/>
          </a:solidFill>
          <a:ln>
            <a:solidFill>
              <a:srgbClr val="CAD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589520" y="2971800"/>
            <a:ext cx="50292" cy="1572768"/>
          </a:xfrm>
          <a:prstGeom prst="rect">
            <a:avLst/>
          </a:prstGeom>
          <a:solidFill>
            <a:srgbClr val="30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790688" y="3081528"/>
            <a:ext cx="37490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50" b="1">
                <a:solidFill>
                  <a:srgbClr val="19283A"/>
                </a:solidFill>
                <a:latin typeface="Aptos Display"/>
              </a:defRPr>
            </a:pPr>
            <a:r>
              <a:t>Why it matters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90688" y="3456432"/>
            <a:ext cx="374904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566576"/>
                </a:solidFill>
                <a:latin typeface="Aptos"/>
              </a:defRPr>
            </a:pPr>
            <a:r>
              <a:t>Provides an analytical alternative to the subquery solution.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589520" y="4754880"/>
            <a:ext cx="4069080" cy="978408"/>
          </a:xfrm>
          <a:prstGeom prst="roundRect">
            <a:avLst/>
          </a:prstGeom>
          <a:solidFill>
            <a:srgbClr val="F4F7FA"/>
          </a:solidFill>
          <a:ln>
            <a:solidFill>
              <a:srgbClr val="CAD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7589520" y="4754880"/>
            <a:ext cx="50292" cy="978408"/>
          </a:xfrm>
          <a:prstGeom prst="rect">
            <a:avLst/>
          </a:prstGeom>
          <a:solidFill>
            <a:srgbClr val="E28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790688" y="4864608"/>
            <a:ext cx="37490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50" b="1">
                <a:solidFill>
                  <a:srgbClr val="19283A"/>
                </a:solidFill>
                <a:latin typeface="Aptos Display"/>
              </a:defRPr>
            </a:pPr>
            <a:r>
              <a:t>SQL technique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90688" y="5239512"/>
            <a:ext cx="3749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566576"/>
                </a:solidFill>
                <a:latin typeface="Aptos"/>
              </a:defRPr>
            </a:pPr>
            <a:r>
              <a:t>DENSE_RANK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9AA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30352" y="274320"/>
            <a:ext cx="96926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9283A"/>
                </a:solidFill>
                <a:latin typeface="Aptos Display"/>
              </a:defRPr>
            </a:pPr>
            <a:r>
              <a:t>21. Customers with More Than One Transaction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86384"/>
            <a:ext cx="9601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566576"/>
                </a:solidFill>
                <a:latin typeface="Aptos"/>
              </a:defRPr>
            </a:pPr>
            <a:r>
              <a:t>Query + execution result • sequence from the submitted screenshots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66960" y="347472"/>
            <a:ext cx="1645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29AABE"/>
                </a:solidFill>
                <a:latin typeface="Aptos"/>
              </a:defRPr>
            </a:pPr>
            <a:r>
              <a:t>SQL ANALYSIS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188720"/>
            <a:ext cx="6812280" cy="1572768"/>
          </a:xfrm>
          <a:prstGeom prst="roundRect">
            <a:avLst/>
          </a:prstGeom>
          <a:solidFill>
            <a:srgbClr val="FFFFFF"/>
          </a:solidFill>
          <a:ln>
            <a:solidFill>
              <a:srgbClr val="CAD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9224" y="1243584"/>
            <a:ext cx="862737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566576"/>
                </a:solidFill>
                <a:latin typeface="Aptos"/>
              </a:defRPr>
            </a:pPr>
            <a:r>
              <a:rPr sz="1000" dirty="0"/>
              <a:t>SQL QUERY</a:t>
            </a:r>
          </a:p>
        </p:txBody>
      </p:sp>
      <p:pic>
        <p:nvPicPr>
          <p:cNvPr id="8" name="Picture 7" descr="41_more_than_1_transac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7372" y="1499616"/>
            <a:ext cx="3963375" cy="1179576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02920" y="2944368"/>
            <a:ext cx="6812280" cy="2788920"/>
          </a:xfrm>
          <a:prstGeom prst="roundRect">
            <a:avLst/>
          </a:prstGeom>
          <a:solidFill>
            <a:srgbClr val="FFFFFF"/>
          </a:solidFill>
          <a:ln>
            <a:solidFill>
              <a:srgbClr val="CAD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9224" y="2999232"/>
            <a:ext cx="1439818" cy="2539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566576"/>
                </a:solidFill>
                <a:latin typeface="Aptos"/>
              </a:defRPr>
            </a:pPr>
            <a:r>
              <a:rPr sz="1000" dirty="0"/>
              <a:t>EXECUTION OUTPUT</a:t>
            </a:r>
          </a:p>
        </p:txBody>
      </p:sp>
      <p:pic>
        <p:nvPicPr>
          <p:cNvPr id="11" name="Picture 10" descr="42_outpute_more_than_1_transac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6240" y="3255264"/>
            <a:ext cx="5365638" cy="2395727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7589520" y="1188720"/>
            <a:ext cx="4069080" cy="1572768"/>
          </a:xfrm>
          <a:prstGeom prst="roundRect">
            <a:avLst/>
          </a:prstGeom>
          <a:solidFill>
            <a:srgbClr val="F4F7FA"/>
          </a:solidFill>
          <a:ln>
            <a:solidFill>
              <a:srgbClr val="CAD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7589520" y="1188720"/>
            <a:ext cx="50292" cy="1572768"/>
          </a:xfrm>
          <a:prstGeom prst="rect">
            <a:avLst/>
          </a:prstGeom>
          <a:solidFill>
            <a:srgbClr val="29AA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790688" y="1298448"/>
            <a:ext cx="37490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50" b="1">
                <a:solidFill>
                  <a:srgbClr val="19283A"/>
                </a:solidFill>
                <a:latin typeface="Aptos Display"/>
              </a:defRPr>
            </a:pPr>
            <a:r>
              <a:t>What the query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90688" y="1673352"/>
            <a:ext cx="3538728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566576"/>
                </a:solidFill>
                <a:latin typeface="Aptos"/>
              </a:defRPr>
            </a:pPr>
            <a:r>
              <a:t>Groups customers and keeps only those with COUNT(*) greater than one.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589520" y="2971800"/>
            <a:ext cx="4069080" cy="1572768"/>
          </a:xfrm>
          <a:prstGeom prst="roundRect">
            <a:avLst/>
          </a:prstGeom>
          <a:solidFill>
            <a:srgbClr val="F4F7FA"/>
          </a:solidFill>
          <a:ln>
            <a:solidFill>
              <a:srgbClr val="CAD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589520" y="2971800"/>
            <a:ext cx="50292" cy="1572768"/>
          </a:xfrm>
          <a:prstGeom prst="rect">
            <a:avLst/>
          </a:prstGeom>
          <a:solidFill>
            <a:srgbClr val="30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790688" y="3081528"/>
            <a:ext cx="37490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50" b="1">
                <a:solidFill>
                  <a:srgbClr val="19283A"/>
                </a:solidFill>
                <a:latin typeface="Aptos Display"/>
              </a:defRPr>
            </a:pPr>
            <a:r>
              <a:t>Why it matters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90688" y="3456432"/>
            <a:ext cx="374904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566576"/>
                </a:solidFill>
                <a:latin typeface="Aptos"/>
              </a:defRPr>
            </a:pPr>
            <a:r>
              <a:t>HAVING filters groups after aggregation.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589520" y="4754880"/>
            <a:ext cx="4069080" cy="978408"/>
          </a:xfrm>
          <a:prstGeom prst="roundRect">
            <a:avLst/>
          </a:prstGeom>
          <a:solidFill>
            <a:srgbClr val="F4F7FA"/>
          </a:solidFill>
          <a:ln>
            <a:solidFill>
              <a:srgbClr val="CAD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7589520" y="4754880"/>
            <a:ext cx="50292" cy="978408"/>
          </a:xfrm>
          <a:prstGeom prst="rect">
            <a:avLst/>
          </a:prstGeom>
          <a:solidFill>
            <a:srgbClr val="E28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790688" y="4864608"/>
            <a:ext cx="37490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50" b="1">
                <a:solidFill>
                  <a:srgbClr val="19283A"/>
                </a:solidFill>
                <a:latin typeface="Aptos Display"/>
              </a:defRPr>
            </a:pPr>
            <a:r>
              <a:t>SQL technique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90688" y="5239512"/>
            <a:ext cx="3749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566576"/>
                </a:solidFill>
                <a:latin typeface="Aptos"/>
              </a:defRPr>
            </a:pPr>
            <a:r>
              <a:t>GROUP BY + HAVING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9AA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30352" y="274320"/>
            <a:ext cx="96926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9283A"/>
                </a:solidFill>
                <a:latin typeface="Aptos Display"/>
              </a:defRPr>
            </a:pPr>
            <a:r>
              <a:t>22. Minimum &amp; Maximum Transaction Amount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86384"/>
            <a:ext cx="9601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566576"/>
                </a:solidFill>
                <a:latin typeface="Aptos"/>
              </a:defRPr>
            </a:pPr>
            <a:r>
              <a:t>Query + execution result • sequence from the submitted screenshots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66960" y="347472"/>
            <a:ext cx="1645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29AABE"/>
                </a:solidFill>
                <a:latin typeface="Aptos"/>
              </a:defRPr>
            </a:pPr>
            <a:r>
              <a:t>SQL ANALYSIS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188720"/>
            <a:ext cx="6812280" cy="1572768"/>
          </a:xfrm>
          <a:prstGeom prst="roundRect">
            <a:avLst/>
          </a:prstGeom>
          <a:solidFill>
            <a:srgbClr val="FFFFFF"/>
          </a:solidFill>
          <a:ln>
            <a:solidFill>
              <a:srgbClr val="CAD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9224" y="1243584"/>
            <a:ext cx="862737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566576"/>
                </a:solidFill>
                <a:latin typeface="Aptos"/>
              </a:defRPr>
            </a:pPr>
            <a:r>
              <a:rPr sz="1000" dirty="0"/>
              <a:t>SQL QUERY</a:t>
            </a:r>
          </a:p>
        </p:txBody>
      </p:sp>
      <p:pic>
        <p:nvPicPr>
          <p:cNvPr id="8" name="Picture 7" descr="43_min_max_transaction_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26505" y="1499616"/>
            <a:ext cx="2765109" cy="1179576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02920" y="2944368"/>
            <a:ext cx="6812280" cy="2788920"/>
          </a:xfrm>
          <a:prstGeom prst="roundRect">
            <a:avLst/>
          </a:prstGeom>
          <a:solidFill>
            <a:srgbClr val="FFFFFF"/>
          </a:solidFill>
          <a:ln>
            <a:solidFill>
              <a:srgbClr val="CAD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9224" y="2999232"/>
            <a:ext cx="1385316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566576"/>
                </a:solidFill>
                <a:latin typeface="Aptos"/>
              </a:defRPr>
            </a:pPr>
            <a:r>
              <a:rPr sz="1000" dirty="0"/>
              <a:t>EXECUTION OUTPUT</a:t>
            </a:r>
          </a:p>
        </p:txBody>
      </p:sp>
      <p:pic>
        <p:nvPicPr>
          <p:cNvPr id="11" name="Picture 10" descr="44_outpute_min_max_transac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48289" y="3255264"/>
            <a:ext cx="4921540" cy="2395727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7589520" y="1188720"/>
            <a:ext cx="4069080" cy="1572768"/>
          </a:xfrm>
          <a:prstGeom prst="roundRect">
            <a:avLst/>
          </a:prstGeom>
          <a:solidFill>
            <a:srgbClr val="F4F7FA"/>
          </a:solidFill>
          <a:ln>
            <a:solidFill>
              <a:srgbClr val="CAD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7589520" y="1188720"/>
            <a:ext cx="50292" cy="1572768"/>
          </a:xfrm>
          <a:prstGeom prst="rect">
            <a:avLst/>
          </a:prstGeom>
          <a:solidFill>
            <a:srgbClr val="29AA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790688" y="1298448"/>
            <a:ext cx="37490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50" b="1">
                <a:solidFill>
                  <a:srgbClr val="19283A"/>
                </a:solidFill>
                <a:latin typeface="Aptos Display"/>
              </a:defRPr>
            </a:pPr>
            <a:r>
              <a:t>What the query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63840" y="1531620"/>
            <a:ext cx="3575304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566576"/>
                </a:solidFill>
                <a:latin typeface="Aptos"/>
              </a:defRPr>
            </a:pPr>
            <a:r>
              <a:t>Finds each customer's minimum and maximum transaction amount.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589520" y="2971800"/>
            <a:ext cx="4069080" cy="1572768"/>
          </a:xfrm>
          <a:prstGeom prst="roundRect">
            <a:avLst/>
          </a:prstGeom>
          <a:solidFill>
            <a:srgbClr val="F4F7FA"/>
          </a:solidFill>
          <a:ln>
            <a:solidFill>
              <a:srgbClr val="CAD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589520" y="2971800"/>
            <a:ext cx="50292" cy="1572768"/>
          </a:xfrm>
          <a:prstGeom prst="rect">
            <a:avLst/>
          </a:prstGeom>
          <a:solidFill>
            <a:srgbClr val="30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790688" y="3081528"/>
            <a:ext cx="37490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50" b="1">
                <a:solidFill>
                  <a:srgbClr val="19283A"/>
                </a:solidFill>
                <a:latin typeface="Aptos Display"/>
              </a:defRPr>
            </a:pPr>
            <a:r>
              <a:t>Why it matters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90688" y="3456432"/>
            <a:ext cx="374904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566576"/>
                </a:solidFill>
                <a:latin typeface="Aptos"/>
              </a:defRPr>
            </a:pPr>
            <a:r>
              <a:t>Shows the transaction-size range for each customer.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589520" y="4754880"/>
            <a:ext cx="4069080" cy="978408"/>
          </a:xfrm>
          <a:prstGeom prst="roundRect">
            <a:avLst/>
          </a:prstGeom>
          <a:solidFill>
            <a:srgbClr val="F4F7FA"/>
          </a:solidFill>
          <a:ln>
            <a:solidFill>
              <a:srgbClr val="CAD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7589520" y="4754880"/>
            <a:ext cx="50292" cy="978408"/>
          </a:xfrm>
          <a:prstGeom prst="rect">
            <a:avLst/>
          </a:prstGeom>
          <a:solidFill>
            <a:srgbClr val="E28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790688" y="4864608"/>
            <a:ext cx="37490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50" b="1">
                <a:solidFill>
                  <a:srgbClr val="19283A"/>
                </a:solidFill>
                <a:latin typeface="Aptos Display"/>
              </a:defRPr>
            </a:pPr>
            <a:r>
              <a:t>SQL technique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90688" y="5239512"/>
            <a:ext cx="3749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566576"/>
                </a:solidFill>
                <a:latin typeface="Aptos"/>
              </a:defRPr>
            </a:pPr>
            <a:r>
              <a:t>MIN + MAX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9AA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30352" y="274320"/>
            <a:ext cx="96926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9283A"/>
                </a:solidFill>
                <a:latin typeface="Aptos Display"/>
              </a:defRPr>
            </a:pPr>
            <a:r>
              <a:t>23. Key Findings from the Dataset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86384"/>
            <a:ext cx="9601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566576"/>
                </a:solidFill>
                <a:latin typeface="Aptos"/>
              </a:defRPr>
            </a:pPr>
            <a:r>
              <a:t>Important values visible in the executed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66960" y="347472"/>
            <a:ext cx="1645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29AABE"/>
                </a:solidFill>
                <a:latin typeface="Aptos"/>
              </a:defRPr>
            </a:pPr>
            <a:r>
              <a:t>RESULTS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234440"/>
            <a:ext cx="3429000" cy="1234440"/>
          </a:xfrm>
          <a:prstGeom prst="roundRect">
            <a:avLst/>
          </a:prstGeom>
          <a:solidFill>
            <a:srgbClr val="F4F7FA"/>
          </a:solidFill>
          <a:ln>
            <a:solidFill>
              <a:srgbClr val="CAD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85800" y="1234440"/>
            <a:ext cx="50292" cy="1234440"/>
          </a:xfrm>
          <a:prstGeom prst="rect">
            <a:avLst/>
          </a:prstGeom>
          <a:solidFill>
            <a:srgbClr val="29AA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86968" y="1344168"/>
            <a:ext cx="31089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50" b="1">
                <a:solidFill>
                  <a:srgbClr val="19283A"/>
                </a:solidFill>
                <a:latin typeface="Aptos Display"/>
              </a:defRPr>
            </a:pPr>
            <a:r>
              <a:t>Highest balance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1719072"/>
            <a:ext cx="3108960" cy="6675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566576"/>
                </a:solidFill>
                <a:latin typeface="Aptos"/>
              </a:defRPr>
            </a:pPr>
            <a:r>
              <a:t>Vivek Shah — ₹2,00,000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234440"/>
            <a:ext cx="3429000" cy="1234440"/>
          </a:xfrm>
          <a:prstGeom prst="roundRect">
            <a:avLst/>
          </a:prstGeom>
          <a:solidFill>
            <a:srgbClr val="F4F7FA"/>
          </a:solidFill>
          <a:ln>
            <a:solidFill>
              <a:srgbClr val="CAD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89120" y="1234440"/>
            <a:ext cx="50292" cy="1234440"/>
          </a:xfrm>
          <a:prstGeom prst="rect">
            <a:avLst/>
          </a:prstGeom>
          <a:solidFill>
            <a:srgbClr val="30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90288" y="1344168"/>
            <a:ext cx="31089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50" b="1">
                <a:solidFill>
                  <a:srgbClr val="19283A"/>
                </a:solidFill>
                <a:latin typeface="Aptos Display"/>
              </a:defRPr>
            </a:pPr>
            <a:r>
              <a:t>Second-highest balance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0288" y="1719072"/>
            <a:ext cx="3108960" cy="6675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566576"/>
                </a:solidFill>
                <a:latin typeface="Aptos"/>
              </a:defRPr>
            </a:pPr>
            <a:r>
              <a:t>Neha Joshi — ₹1,50,000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2440" y="1234440"/>
            <a:ext cx="3429000" cy="1234440"/>
          </a:xfrm>
          <a:prstGeom prst="roundRect">
            <a:avLst/>
          </a:prstGeom>
          <a:solidFill>
            <a:srgbClr val="F4F7FA"/>
          </a:solidFill>
          <a:ln>
            <a:solidFill>
              <a:srgbClr val="CAD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092440" y="1234440"/>
            <a:ext cx="50292" cy="1234440"/>
          </a:xfrm>
          <a:prstGeom prst="rect">
            <a:avLst/>
          </a:prstGeom>
          <a:solidFill>
            <a:srgbClr val="E28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93608" y="1344168"/>
            <a:ext cx="31089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50" b="1">
                <a:solidFill>
                  <a:srgbClr val="19283A"/>
                </a:solidFill>
                <a:latin typeface="Aptos Display"/>
              </a:defRPr>
            </a:pPr>
            <a:r>
              <a:t>Average balance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93608" y="1719072"/>
            <a:ext cx="3108960" cy="6675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566576"/>
                </a:solidFill>
                <a:latin typeface="Aptos"/>
              </a:defRPr>
            </a:pPr>
            <a:r>
              <a:t>₹93,000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2743200"/>
            <a:ext cx="3429000" cy="1234440"/>
          </a:xfrm>
          <a:prstGeom prst="roundRect">
            <a:avLst/>
          </a:prstGeom>
          <a:solidFill>
            <a:srgbClr val="F4F7FA"/>
          </a:solidFill>
          <a:ln>
            <a:solidFill>
              <a:srgbClr val="CAD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85800" y="2743200"/>
            <a:ext cx="50292" cy="1234440"/>
          </a:xfrm>
          <a:prstGeom prst="rect">
            <a:avLst/>
          </a:prstGeom>
          <a:solidFill>
            <a:srgbClr val="29AA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86968" y="2852928"/>
            <a:ext cx="31089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50" b="1">
                <a:solidFill>
                  <a:srgbClr val="19283A"/>
                </a:solidFill>
                <a:latin typeface="Aptos Display"/>
              </a:defRPr>
            </a:pPr>
            <a:r>
              <a:t>Deposits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6968" y="3227832"/>
            <a:ext cx="3108960" cy="6675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566576"/>
                </a:solidFill>
                <a:latin typeface="Aptos"/>
              </a:defRPr>
            </a:pPr>
            <a:r>
              <a:t>₹1,21,000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89120" y="2743200"/>
            <a:ext cx="3429000" cy="1234440"/>
          </a:xfrm>
          <a:prstGeom prst="roundRect">
            <a:avLst/>
          </a:prstGeom>
          <a:solidFill>
            <a:srgbClr val="F4F7FA"/>
          </a:solidFill>
          <a:ln>
            <a:solidFill>
              <a:srgbClr val="CAD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389120" y="2743200"/>
            <a:ext cx="50292" cy="1234440"/>
          </a:xfrm>
          <a:prstGeom prst="rect">
            <a:avLst/>
          </a:prstGeom>
          <a:solidFill>
            <a:srgbClr val="30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590288" y="2852928"/>
            <a:ext cx="31089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50" b="1">
                <a:solidFill>
                  <a:srgbClr val="19283A"/>
                </a:solidFill>
                <a:latin typeface="Aptos Display"/>
              </a:defRPr>
            </a:pPr>
            <a:r>
              <a:t>Withdrawals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90288" y="3227832"/>
            <a:ext cx="3108960" cy="6675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566576"/>
                </a:solidFill>
                <a:latin typeface="Aptos"/>
              </a:defRPr>
            </a:pPr>
            <a:r>
              <a:t>₹35,000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92440" y="2743200"/>
            <a:ext cx="3429000" cy="1234440"/>
          </a:xfrm>
          <a:prstGeom prst="roundRect">
            <a:avLst/>
          </a:prstGeom>
          <a:solidFill>
            <a:srgbClr val="F4F7FA"/>
          </a:solidFill>
          <a:ln>
            <a:solidFill>
              <a:srgbClr val="CAD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8092440" y="2743200"/>
            <a:ext cx="50292" cy="1234440"/>
          </a:xfrm>
          <a:prstGeom prst="rect">
            <a:avLst/>
          </a:prstGeom>
          <a:solidFill>
            <a:srgbClr val="E28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293608" y="2852928"/>
            <a:ext cx="31089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50" b="1">
                <a:solidFill>
                  <a:srgbClr val="19283A"/>
                </a:solidFill>
                <a:latin typeface="Aptos Display"/>
              </a:defRPr>
            </a:pPr>
            <a:r>
              <a:t>Net transaction value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93608" y="3227832"/>
            <a:ext cx="3108960" cy="6675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566576"/>
                </a:solidFill>
                <a:latin typeface="Aptos"/>
              </a:defRPr>
            </a:pPr>
            <a:r>
              <a:t>₹86,000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" y="4315968"/>
            <a:ext cx="104241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50">
                <a:solidFill>
                  <a:srgbClr val="19283A"/>
                </a:solidFill>
                <a:latin typeface="Aptos"/>
              </a:defRPr>
            </a:pPr>
            <a:r>
              <a:t>• Customers with multiple transactions are identified using GROUP BY + HAVING.</a:t>
            </a:r>
          </a:p>
          <a:p>
            <a:pPr>
              <a:spcAft>
                <a:spcPts val="800"/>
              </a:spcAft>
              <a:defRPr sz="1350">
                <a:solidFill>
                  <a:srgbClr val="19283A"/>
                </a:solidFill>
                <a:latin typeface="Aptos"/>
              </a:defRPr>
            </a:pPr>
            <a:r>
              <a:t>• Customers without loans are found using LEFT JOIN + IS NULL.</a:t>
            </a:r>
          </a:p>
          <a:p>
            <a:pPr>
              <a:spcAft>
                <a:spcPts val="800"/>
              </a:spcAft>
              <a:defRPr sz="1350">
                <a:solidFill>
                  <a:srgbClr val="19283A"/>
                </a:solidFill>
                <a:latin typeface="Aptos"/>
              </a:defRPr>
            </a:pPr>
            <a:r>
              <a:t>• RANK and DENSE_RANK demonstrate two different ranking behaviors.</a:t>
            </a:r>
          </a:p>
          <a:p>
            <a:pPr>
              <a:spcAft>
                <a:spcPts val="800"/>
              </a:spcAft>
              <a:defRPr sz="1350">
                <a:solidFill>
                  <a:srgbClr val="19283A"/>
                </a:solidFill>
                <a:latin typeface="Aptos"/>
              </a:defRPr>
            </a:pPr>
            <a:r>
              <a:t>• LAG and LEAD enable row-to-row comparisons; SUM OVER creates a running total.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9AA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30352" y="274320"/>
            <a:ext cx="96926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9283A"/>
                </a:solidFill>
                <a:latin typeface="Aptos Display"/>
              </a:defRPr>
            </a:pPr>
            <a:r>
              <a:t>24. SQL Concepts Demonstrated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86384"/>
            <a:ext cx="9601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566576"/>
                </a:solidFill>
                <a:latin typeface="Aptos"/>
              </a:defRPr>
            </a:pPr>
            <a:r>
              <a:t>Main database and analytical skills represented in the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66960" y="347472"/>
            <a:ext cx="1645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29AABE"/>
                </a:solidFill>
                <a:latin typeface="Aptos"/>
              </a:defRPr>
            </a:pPr>
            <a:r>
              <a:t>LEARNING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325880"/>
            <a:ext cx="3383280" cy="1645920"/>
          </a:xfrm>
          <a:prstGeom prst="roundRect">
            <a:avLst/>
          </a:prstGeom>
          <a:solidFill>
            <a:srgbClr val="F4F7FA"/>
          </a:solidFill>
          <a:ln>
            <a:solidFill>
              <a:srgbClr val="CAD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85800" y="1325880"/>
            <a:ext cx="50292" cy="1645920"/>
          </a:xfrm>
          <a:prstGeom prst="rect">
            <a:avLst/>
          </a:prstGeom>
          <a:solidFill>
            <a:srgbClr val="29AA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86968" y="1435607"/>
            <a:ext cx="30632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50" b="1">
                <a:solidFill>
                  <a:srgbClr val="19283A"/>
                </a:solidFill>
                <a:latin typeface="Aptos Display"/>
              </a:defRPr>
            </a:pPr>
            <a:r>
              <a:t>Primary &amp; Foreign Keys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1810512"/>
            <a:ext cx="3063240" cy="10789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566576"/>
                </a:solidFill>
                <a:latin typeface="Aptos"/>
              </a:defRPr>
            </a:pPr>
            <a:r>
              <a:t>Maintain unique records and relationships.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1325880"/>
            <a:ext cx="3383280" cy="1645920"/>
          </a:xfrm>
          <a:prstGeom prst="roundRect">
            <a:avLst/>
          </a:prstGeom>
          <a:solidFill>
            <a:srgbClr val="F4F7FA"/>
          </a:solidFill>
          <a:ln>
            <a:solidFill>
              <a:srgbClr val="CAD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434840" y="1325880"/>
            <a:ext cx="50292" cy="1645920"/>
          </a:xfrm>
          <a:prstGeom prst="rect">
            <a:avLst/>
          </a:prstGeom>
          <a:solidFill>
            <a:srgbClr val="30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636007" y="1435607"/>
            <a:ext cx="30632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50" b="1">
                <a:solidFill>
                  <a:srgbClr val="19283A"/>
                </a:solidFill>
                <a:latin typeface="Aptos Display"/>
              </a:defRPr>
            </a:pPr>
            <a:r>
              <a:t>INNER / LEFT JOIN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36007" y="1810512"/>
            <a:ext cx="3063240" cy="10789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566576"/>
                </a:solidFill>
                <a:latin typeface="Aptos"/>
              </a:defRPr>
            </a:pPr>
            <a:r>
              <a:t>Combine related data and identify missing matches.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83879" y="1325880"/>
            <a:ext cx="3383280" cy="1645920"/>
          </a:xfrm>
          <a:prstGeom prst="roundRect">
            <a:avLst/>
          </a:prstGeom>
          <a:solidFill>
            <a:srgbClr val="F4F7FA"/>
          </a:solidFill>
          <a:ln>
            <a:solidFill>
              <a:srgbClr val="CAD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183879" y="1325880"/>
            <a:ext cx="50292" cy="1645920"/>
          </a:xfrm>
          <a:prstGeom prst="rect">
            <a:avLst/>
          </a:prstGeom>
          <a:solidFill>
            <a:srgbClr val="E28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385048" y="1435607"/>
            <a:ext cx="30632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50" b="1">
                <a:solidFill>
                  <a:srgbClr val="19283A"/>
                </a:solidFill>
                <a:latin typeface="Aptos Display"/>
              </a:defRPr>
            </a:pPr>
            <a:r>
              <a:t>GROUP BY / HAVING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85048" y="1810512"/>
            <a:ext cx="3063240" cy="10789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566576"/>
                </a:solidFill>
                <a:latin typeface="Aptos"/>
              </a:defRPr>
            </a:pPr>
            <a:r>
              <a:t>Aggregate data and filter grouped results.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3474720"/>
            <a:ext cx="3383280" cy="1645920"/>
          </a:xfrm>
          <a:prstGeom prst="roundRect">
            <a:avLst/>
          </a:prstGeom>
          <a:solidFill>
            <a:srgbClr val="F4F7FA"/>
          </a:solidFill>
          <a:ln>
            <a:solidFill>
              <a:srgbClr val="CAD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85800" y="3474720"/>
            <a:ext cx="50292" cy="1645920"/>
          </a:xfrm>
          <a:prstGeom prst="rect">
            <a:avLst/>
          </a:prstGeom>
          <a:solidFill>
            <a:srgbClr val="29AA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86968" y="3584448"/>
            <a:ext cx="30632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50" b="1">
                <a:solidFill>
                  <a:srgbClr val="19283A"/>
                </a:solidFill>
                <a:latin typeface="Aptos Display"/>
              </a:defRPr>
            </a:pPr>
            <a:r>
              <a:t>Subqueries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6968" y="3959352"/>
            <a:ext cx="3063240" cy="10789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566576"/>
                </a:solidFill>
                <a:latin typeface="Aptos"/>
              </a:defRPr>
            </a:pPr>
            <a:r>
              <a:t>Use calculated intermediate results in filters.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34840" y="3474720"/>
            <a:ext cx="3383280" cy="1645920"/>
          </a:xfrm>
          <a:prstGeom prst="roundRect">
            <a:avLst/>
          </a:prstGeom>
          <a:solidFill>
            <a:srgbClr val="F4F7FA"/>
          </a:solidFill>
          <a:ln>
            <a:solidFill>
              <a:srgbClr val="CAD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434840" y="3474720"/>
            <a:ext cx="50292" cy="1645920"/>
          </a:xfrm>
          <a:prstGeom prst="rect">
            <a:avLst/>
          </a:prstGeom>
          <a:solidFill>
            <a:srgbClr val="30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636007" y="3584448"/>
            <a:ext cx="30632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50" b="1">
                <a:solidFill>
                  <a:srgbClr val="19283A"/>
                </a:solidFill>
                <a:latin typeface="Aptos Display"/>
              </a:defRPr>
            </a:pPr>
            <a:r>
              <a:t>Window Functions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36007" y="3959352"/>
            <a:ext cx="3063240" cy="10789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566576"/>
                </a:solidFill>
                <a:latin typeface="Aptos"/>
              </a:defRPr>
            </a:pPr>
            <a:r>
              <a:t>RANK, DENSE_RANK, LAG, LEAD and SUM OVER.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183879" y="3474720"/>
            <a:ext cx="3383280" cy="1645920"/>
          </a:xfrm>
          <a:prstGeom prst="roundRect">
            <a:avLst/>
          </a:prstGeom>
          <a:solidFill>
            <a:srgbClr val="F4F7FA"/>
          </a:solidFill>
          <a:ln>
            <a:solidFill>
              <a:srgbClr val="CAD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8183879" y="3474720"/>
            <a:ext cx="50292" cy="1645920"/>
          </a:xfrm>
          <a:prstGeom prst="rect">
            <a:avLst/>
          </a:prstGeom>
          <a:solidFill>
            <a:srgbClr val="E28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385048" y="3584448"/>
            <a:ext cx="30632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50" b="1">
                <a:solidFill>
                  <a:srgbClr val="19283A"/>
                </a:solidFill>
                <a:latin typeface="Aptos Display"/>
              </a:defRPr>
            </a:pPr>
            <a:r>
              <a:t>Aggregate Functions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85048" y="3959352"/>
            <a:ext cx="3063240" cy="10789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566576"/>
                </a:solidFill>
                <a:latin typeface="Aptos"/>
              </a:defRPr>
            </a:pPr>
            <a:r>
              <a:t>SUM, COUNT, AVG, MIN and MAX.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9AA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30352" y="274320"/>
            <a:ext cx="96926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9283A"/>
                </a:solidFill>
                <a:latin typeface="Aptos Display"/>
              </a:defRPr>
            </a:pPr>
            <a:r>
              <a:t>25. 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86384"/>
            <a:ext cx="9601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566576"/>
                </a:solidFill>
                <a:latin typeface="Aptos"/>
              </a:defRPr>
            </a:pPr>
            <a:r>
              <a:t>End-to-end SQL banking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66960" y="347472"/>
            <a:ext cx="1645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29AABE"/>
                </a:solidFill>
                <a:latin typeface="Aptos"/>
              </a:defRPr>
            </a:pPr>
            <a:r>
              <a:t>CONCLUSION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325880"/>
            <a:ext cx="67208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9283A"/>
                </a:solidFill>
                <a:latin typeface="Aptos"/>
              </a:defRPr>
            </a:pPr>
            <a:r>
              <a:t>• The project builds a relational structure around customers, accounts, transactions and loans.</a:t>
            </a:r>
          </a:p>
          <a:p>
            <a:pPr>
              <a:spcAft>
                <a:spcPts val="800"/>
              </a:spcAft>
              <a:defRPr sz="1600">
                <a:solidFill>
                  <a:srgbClr val="19283A"/>
                </a:solidFill>
                <a:latin typeface="Aptos"/>
              </a:defRPr>
            </a:pPr>
            <a:r>
              <a:t>• The query sequence moves from basic retrieval and joins to aggregation, subqueries and window functions.</a:t>
            </a:r>
          </a:p>
          <a:p>
            <a:pPr>
              <a:spcAft>
                <a:spcPts val="800"/>
              </a:spcAft>
              <a:defRPr sz="1600">
                <a:solidFill>
                  <a:srgbClr val="19283A"/>
                </a:solidFill>
                <a:latin typeface="Aptos"/>
              </a:defRPr>
            </a:pPr>
            <a:r>
              <a:t>• The screenshots provide direct evidence of query execution and results.</a:t>
            </a:r>
          </a:p>
          <a:p>
            <a:pPr>
              <a:spcAft>
                <a:spcPts val="800"/>
              </a:spcAft>
              <a:defRPr sz="1600">
                <a:solidFill>
                  <a:srgbClr val="19283A"/>
                </a:solidFill>
                <a:latin typeface="Aptos"/>
              </a:defRPr>
            </a:pPr>
            <a:r>
              <a:t>• The same techniques can be extended to banking dashboards, customer segmentation, transaction monitoring and loan analysis.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26679" y="1325880"/>
            <a:ext cx="3657600" cy="1234440"/>
          </a:xfrm>
          <a:prstGeom prst="roundRect">
            <a:avLst/>
          </a:prstGeom>
          <a:solidFill>
            <a:srgbClr val="F4F7FA"/>
          </a:solidFill>
          <a:ln>
            <a:solidFill>
              <a:srgbClr val="CAD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726679" y="1325880"/>
            <a:ext cx="50292" cy="1234440"/>
          </a:xfrm>
          <a:prstGeom prst="rect">
            <a:avLst/>
          </a:prstGeom>
          <a:solidFill>
            <a:srgbClr val="29AA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927848" y="1435607"/>
            <a:ext cx="33375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50" b="1">
                <a:solidFill>
                  <a:srgbClr val="19283A"/>
                </a:solidFill>
                <a:latin typeface="Aptos Display"/>
              </a:defRPr>
            </a:pPr>
            <a:r>
              <a:t>Core takeaway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27848" y="1810512"/>
            <a:ext cx="3236976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566576"/>
                </a:solidFill>
                <a:latin typeface="Aptos"/>
              </a:defRPr>
            </a:pPr>
            <a:r>
              <a:t>SQL converts linked banking records into useful business information.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26679" y="2788920"/>
            <a:ext cx="3657600" cy="1234440"/>
          </a:xfrm>
          <a:prstGeom prst="roundRect">
            <a:avLst/>
          </a:prstGeom>
          <a:solidFill>
            <a:srgbClr val="F4F7FA"/>
          </a:solidFill>
          <a:ln>
            <a:solidFill>
              <a:srgbClr val="CAD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726679" y="2788920"/>
            <a:ext cx="50292" cy="1234440"/>
          </a:xfrm>
          <a:prstGeom prst="rect">
            <a:avLst/>
          </a:prstGeom>
          <a:solidFill>
            <a:srgbClr val="30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927848" y="2898648"/>
            <a:ext cx="33375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50" b="1">
                <a:solidFill>
                  <a:srgbClr val="19283A"/>
                </a:solidFill>
                <a:latin typeface="Aptos Display"/>
              </a:defRPr>
            </a:pPr>
            <a:r>
              <a:t>Production improvements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27848" y="3273552"/>
            <a:ext cx="3236976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566576"/>
                </a:solidFill>
                <a:latin typeface="Aptos"/>
              </a:defRPr>
            </a:pPr>
            <a:r>
              <a:t>Indexes, views, stored procedures, constraints and transaction handling.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26679" y="4251960"/>
            <a:ext cx="3657600" cy="1234440"/>
          </a:xfrm>
          <a:prstGeom prst="roundRect">
            <a:avLst/>
          </a:prstGeom>
          <a:solidFill>
            <a:srgbClr val="F4F7FA"/>
          </a:solidFill>
          <a:ln>
            <a:solidFill>
              <a:srgbClr val="CAD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7726679" y="4251960"/>
            <a:ext cx="50292" cy="1234440"/>
          </a:xfrm>
          <a:prstGeom prst="rect">
            <a:avLst/>
          </a:prstGeom>
          <a:solidFill>
            <a:srgbClr val="E28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927848" y="4361688"/>
            <a:ext cx="33375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50" b="1">
                <a:solidFill>
                  <a:srgbClr val="19283A"/>
                </a:solidFill>
                <a:latin typeface="Aptos Display"/>
              </a:defRPr>
            </a:pPr>
            <a:r>
              <a:t>Thank you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27848" y="4736592"/>
            <a:ext cx="3337560" cy="6675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566576"/>
                </a:solidFill>
                <a:latin typeface="Aptos"/>
              </a:defRPr>
            </a:pPr>
            <a:r>
              <a:t>Questions &amp;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1616</Words>
  <Application>Microsoft Office PowerPoint</Application>
  <PresentationFormat>Widescreen</PresentationFormat>
  <Paragraphs>306</Paragraphs>
  <Slides>27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sunitapalkar</dc:creator>
  <cp:keywords/>
  <dc:description>generated using python-pptx</dc:description>
  <cp:lastModifiedBy>sunita palkar</cp:lastModifiedBy>
  <cp:revision>2</cp:revision>
  <dcterms:created xsi:type="dcterms:W3CDTF">2013-01-27T09:14:16Z</dcterms:created>
  <dcterms:modified xsi:type="dcterms:W3CDTF">2026-10-05T09:04:21Z</dcterms:modified>
  <cp:category/>
</cp:coreProperties>
</file>